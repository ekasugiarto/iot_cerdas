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3B638E94-EFC7-46E5-7EF8-F7130FA0D48A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Validasi Rentang Ukur" id="{9FA6E9C8-A63E-69CC-2BCA-3084423E4206}">
          <p14:sldIdLst>
            <p14:sldId id="262"/>
            <p14:sldId id="263"/>
            <p14:sldId id="264"/>
            <p14:sldId id="265"/>
          </p14:sldIdLst>
        </p14:section>
        <p14:section name="Waktu Internal sebagai Indeks" id="{A2BAD14C-4DF3-E267-5F1D-56ACFB6A133A}">
          <p14:sldIdLst>
            <p14:sldId id="266"/>
            <p14:sldId id="267"/>
            <p14:sldId id="268"/>
            <p14:sldId id="269"/>
            <p14:sldId id="270"/>
          </p14:sldIdLst>
        </p14:section>
        <p14:section name="Deteksi Outlier dengan Boxplot" id="{805D3496-15D5-5ADB-5727-C4E4B173D542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enyimpanan Data di SPIFFS" id="{70CBCDB2-A036-6219-2D9A-2D6B829C7086}">
          <p14:sldIdLst>
            <p14:sldId id="277"/>
            <p14:sldId id="278"/>
            <p14:sldId id="279"/>
            <p14:sldId id="280"/>
            <p14:sldId id="281"/>
          </p14:sldIdLst>
        </p14:section>
        <p14:section name="Rata-rata per Jam dan 24 Jam" id="{C9695F67-510D-F311-5D04-97EC1EC32F53}">
          <p14:sldIdLst>
            <p14:sldId id="282"/>
            <p14:sldId id="283"/>
            <p14:sldId id="284"/>
            <p14:sldId id="285"/>
            <p14:sldId id="286"/>
          </p14:sldIdLst>
        </p14:section>
        <p14:section name="Penutup" id="{717E2D2F-DF53-A43F-4826-8259982907DC}">
          <p14:sldIdLst>
            <p14:sldId id="287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 per 2 menit</c:v>
                </c:pt>
              </c:strCache>
            </c:strRef>
          </c:tx>
          <c:spPr>
            <a:ln w="19050" cap="flat">
              <a:solidFill>
                <a:srgbClr val="7A8C8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Sheet1!$A$2:$A$91</c:f>
              <c:strCache>
                <c:ptCount val="90"/>
                <c:pt idx="0">
                  <c:v>13:00</c:v>
                </c:pt>
                <c:pt idx="30">
                  <c:v>14:00</c:v>
                </c:pt>
                <c:pt idx="60">
                  <c:v>15:00</c:v>
                </c:pt>
              </c:strCache>
            </c:strRef>
          </c:cat>
          <c:val>
            <c:numRef>
              <c:f>Sheet1!$B$2:$B$91</c:f>
              <c:numCache>
                <c:formatCode>General</c:formatCode>
                <c:ptCount val="90"/>
                <c:pt idx="0">
                  <c:v>22</c:v>
                </c:pt>
                <c:pt idx="1">
                  <c:v>22.8</c:v>
                </c:pt>
                <c:pt idx="2">
                  <c:v>21.5</c:v>
                </c:pt>
                <c:pt idx="3">
                  <c:v>22.5</c:v>
                </c:pt>
                <c:pt idx="4">
                  <c:v>23.7</c:v>
                </c:pt>
                <c:pt idx="5">
                  <c:v>24.3</c:v>
                </c:pt>
                <c:pt idx="6">
                  <c:v>22.7</c:v>
                </c:pt>
                <c:pt idx="7">
                  <c:v>26</c:v>
                </c:pt>
                <c:pt idx="8">
                  <c:v>24.8</c:v>
                </c:pt>
                <c:pt idx="9">
                  <c:v>23.9</c:v>
                </c:pt>
                <c:pt idx="10">
                  <c:v>23.1</c:v>
                </c:pt>
                <c:pt idx="11">
                  <c:v>24.7</c:v>
                </c:pt>
                <c:pt idx="12">
                  <c:v>23.8</c:v>
                </c:pt>
                <c:pt idx="13">
                  <c:v>20.9</c:v>
                </c:pt>
                <c:pt idx="14">
                  <c:v>22.1</c:v>
                </c:pt>
                <c:pt idx="15">
                  <c:v>20.5</c:v>
                </c:pt>
                <c:pt idx="16">
                  <c:v>21.7</c:v>
                </c:pt>
                <c:pt idx="17">
                  <c:v>19.100000000000001</c:v>
                </c:pt>
                <c:pt idx="18">
                  <c:v>20.3</c:v>
                </c:pt>
                <c:pt idx="19">
                  <c:v>19.7</c:v>
                </c:pt>
                <c:pt idx="20">
                  <c:v>18.3</c:v>
                </c:pt>
                <c:pt idx="21">
                  <c:v>17.7</c:v>
                </c:pt>
                <c:pt idx="22">
                  <c:v>21.3</c:v>
                </c:pt>
                <c:pt idx="23">
                  <c:v>21.6</c:v>
                </c:pt>
                <c:pt idx="24">
                  <c:v>18.399999999999999</c:v>
                </c:pt>
                <c:pt idx="25">
                  <c:v>20.100000000000001</c:v>
                </c:pt>
                <c:pt idx="26">
                  <c:v>22.6</c:v>
                </c:pt>
                <c:pt idx="27">
                  <c:v>20.100000000000001</c:v>
                </c:pt>
                <c:pt idx="28">
                  <c:v>21.5</c:v>
                </c:pt>
                <c:pt idx="29">
                  <c:v>22.6</c:v>
                </c:pt>
                <c:pt idx="30">
                  <c:v>32.6</c:v>
                </c:pt>
                <c:pt idx="31">
                  <c:v>31.5</c:v>
                </c:pt>
                <c:pt idx="32">
                  <c:v>31.5</c:v>
                </c:pt>
                <c:pt idx="33">
                  <c:v>35.1</c:v>
                </c:pt>
                <c:pt idx="34">
                  <c:v>33.200000000000003</c:v>
                </c:pt>
                <c:pt idx="35">
                  <c:v>32.4</c:v>
                </c:pt>
                <c:pt idx="36">
                  <c:v>33.700000000000003</c:v>
                </c:pt>
                <c:pt idx="37">
                  <c:v>32.700000000000003</c:v>
                </c:pt>
                <c:pt idx="38">
                  <c:v>31.7</c:v>
                </c:pt>
                <c:pt idx="39">
                  <c:v>33.799999999999997</c:v>
                </c:pt>
                <c:pt idx="40">
                  <c:v>31.7</c:v>
                </c:pt>
                <c:pt idx="41">
                  <c:v>92</c:v>
                </c:pt>
                <c:pt idx="42">
                  <c:v>29.5</c:v>
                </c:pt>
                <c:pt idx="43">
                  <c:v>32.4</c:v>
                </c:pt>
                <c:pt idx="44">
                  <c:v>29.1</c:v>
                </c:pt>
                <c:pt idx="45">
                  <c:v>31.2</c:v>
                </c:pt>
                <c:pt idx="46">
                  <c:v>29.1</c:v>
                </c:pt>
                <c:pt idx="47">
                  <c:v>27.8</c:v>
                </c:pt>
                <c:pt idx="48">
                  <c:v>29</c:v>
                </c:pt>
                <c:pt idx="49">
                  <c:v>28.1</c:v>
                </c:pt>
                <c:pt idx="50">
                  <c:v>29.6</c:v>
                </c:pt>
                <c:pt idx="51">
                  <c:v>29.3</c:v>
                </c:pt>
                <c:pt idx="52">
                  <c:v>27.4</c:v>
                </c:pt>
                <c:pt idx="53">
                  <c:v>28.1</c:v>
                </c:pt>
                <c:pt idx="54">
                  <c:v>29.5</c:v>
                </c:pt>
                <c:pt idx="55">
                  <c:v>28.5</c:v>
                </c:pt>
                <c:pt idx="56">
                  <c:v>28.9</c:v>
                </c:pt>
                <c:pt idx="57">
                  <c:v>30.9</c:v>
                </c:pt>
                <c:pt idx="58">
                  <c:v>32.5</c:v>
                </c:pt>
                <c:pt idx="59">
                  <c:v>32.9</c:v>
                </c:pt>
                <c:pt idx="60">
                  <c:v>29.6</c:v>
                </c:pt>
                <c:pt idx="61">
                  <c:v>27.4</c:v>
                </c:pt>
                <c:pt idx="62">
                  <c:v>28.1</c:v>
                </c:pt>
                <c:pt idx="63">
                  <c:v>28.5</c:v>
                </c:pt>
                <c:pt idx="64">
                  <c:v>28.2</c:v>
                </c:pt>
                <c:pt idx="65">
                  <c:v>29.7</c:v>
                </c:pt>
                <c:pt idx="66">
                  <c:v>28</c:v>
                </c:pt>
                <c:pt idx="67">
                  <c:v>27.6</c:v>
                </c:pt>
                <c:pt idx="68">
                  <c:v>26.5</c:v>
                </c:pt>
                <c:pt idx="69">
                  <c:v>25.9</c:v>
                </c:pt>
                <c:pt idx="70">
                  <c:v>27.4</c:v>
                </c:pt>
                <c:pt idx="71">
                  <c:v>24.4</c:v>
                </c:pt>
                <c:pt idx="72">
                  <c:v>24.4</c:v>
                </c:pt>
                <c:pt idx="73">
                  <c:v>25.8</c:v>
                </c:pt>
                <c:pt idx="74">
                  <c:v>25.8</c:v>
                </c:pt>
                <c:pt idx="75">
                  <c:v>25.8</c:v>
                </c:pt>
                <c:pt idx="76">
                  <c:v>25.4</c:v>
                </c:pt>
                <c:pt idx="77">
                  <c:v>25</c:v>
                </c:pt>
                <c:pt idx="78">
                  <c:v>24.5</c:v>
                </c:pt>
                <c:pt idx="79">
                  <c:v>24.2</c:v>
                </c:pt>
                <c:pt idx="80">
                  <c:v>24</c:v>
                </c:pt>
                <c:pt idx="81">
                  <c:v>22.2</c:v>
                </c:pt>
                <c:pt idx="82">
                  <c:v>23.8</c:v>
                </c:pt>
                <c:pt idx="83">
                  <c:v>24.4</c:v>
                </c:pt>
                <c:pt idx="84">
                  <c:v>24.4</c:v>
                </c:pt>
                <c:pt idx="85">
                  <c:v>25.7</c:v>
                </c:pt>
                <c:pt idx="86">
                  <c:v>27.4</c:v>
                </c:pt>
                <c:pt idx="87">
                  <c:v>28.1</c:v>
                </c:pt>
                <c:pt idx="88">
                  <c:v>26.7</c:v>
                </c:pt>
                <c:pt idx="89">
                  <c:v>29.8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26-4473-98E9-0C1E1C0F36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Rata-rata jam (tanpa outlier)</c:v>
                </c:pt>
              </c:strCache>
            </c:strRef>
          </c:tx>
          <c:spPr>
            <a:ln w="1905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Sheet1!$A$2:$A$91</c:f>
              <c:strCache>
                <c:ptCount val="90"/>
                <c:pt idx="0">
                  <c:v>13:00</c:v>
                </c:pt>
                <c:pt idx="30">
                  <c:v>14:00</c:v>
                </c:pt>
                <c:pt idx="60">
                  <c:v>15:00</c:v>
                </c:pt>
              </c:strCache>
            </c:strRef>
          </c:cat>
          <c:val>
            <c:numRef>
              <c:f>Sheet1!$C$2:$C$91</c:f>
              <c:numCache>
                <c:formatCode>General</c:formatCode>
                <c:ptCount val="90"/>
                <c:pt idx="0">
                  <c:v>21.8</c:v>
                </c:pt>
                <c:pt idx="1">
                  <c:v>21.8</c:v>
                </c:pt>
                <c:pt idx="2">
                  <c:v>21.8</c:v>
                </c:pt>
                <c:pt idx="3">
                  <c:v>21.8</c:v>
                </c:pt>
                <c:pt idx="4">
                  <c:v>21.8</c:v>
                </c:pt>
                <c:pt idx="5">
                  <c:v>21.8</c:v>
                </c:pt>
                <c:pt idx="6">
                  <c:v>21.8</c:v>
                </c:pt>
                <c:pt idx="7">
                  <c:v>21.8</c:v>
                </c:pt>
                <c:pt idx="8">
                  <c:v>21.8</c:v>
                </c:pt>
                <c:pt idx="9">
                  <c:v>21.8</c:v>
                </c:pt>
                <c:pt idx="10">
                  <c:v>21.8</c:v>
                </c:pt>
                <c:pt idx="11">
                  <c:v>21.8</c:v>
                </c:pt>
                <c:pt idx="12">
                  <c:v>21.8</c:v>
                </c:pt>
                <c:pt idx="13">
                  <c:v>21.8</c:v>
                </c:pt>
                <c:pt idx="14">
                  <c:v>21.8</c:v>
                </c:pt>
                <c:pt idx="15">
                  <c:v>21.8</c:v>
                </c:pt>
                <c:pt idx="16">
                  <c:v>21.8</c:v>
                </c:pt>
                <c:pt idx="17">
                  <c:v>21.8</c:v>
                </c:pt>
                <c:pt idx="18">
                  <c:v>21.8</c:v>
                </c:pt>
                <c:pt idx="19">
                  <c:v>21.8</c:v>
                </c:pt>
                <c:pt idx="20">
                  <c:v>21.8</c:v>
                </c:pt>
                <c:pt idx="21">
                  <c:v>21.8</c:v>
                </c:pt>
                <c:pt idx="22">
                  <c:v>21.8</c:v>
                </c:pt>
                <c:pt idx="23">
                  <c:v>21.8</c:v>
                </c:pt>
                <c:pt idx="24">
                  <c:v>21.8</c:v>
                </c:pt>
                <c:pt idx="25">
                  <c:v>21.8</c:v>
                </c:pt>
                <c:pt idx="26">
                  <c:v>21.8</c:v>
                </c:pt>
                <c:pt idx="27">
                  <c:v>21.8</c:v>
                </c:pt>
                <c:pt idx="28">
                  <c:v>21.8</c:v>
                </c:pt>
                <c:pt idx="29">
                  <c:v>21.8</c:v>
                </c:pt>
                <c:pt idx="30">
                  <c:v>30.8</c:v>
                </c:pt>
                <c:pt idx="31">
                  <c:v>30.8</c:v>
                </c:pt>
                <c:pt idx="32">
                  <c:v>30.8</c:v>
                </c:pt>
                <c:pt idx="33">
                  <c:v>30.8</c:v>
                </c:pt>
                <c:pt idx="34">
                  <c:v>30.8</c:v>
                </c:pt>
                <c:pt idx="35">
                  <c:v>30.8</c:v>
                </c:pt>
                <c:pt idx="36">
                  <c:v>30.8</c:v>
                </c:pt>
                <c:pt idx="37">
                  <c:v>30.8</c:v>
                </c:pt>
                <c:pt idx="38">
                  <c:v>30.8</c:v>
                </c:pt>
                <c:pt idx="39">
                  <c:v>30.8</c:v>
                </c:pt>
                <c:pt idx="40">
                  <c:v>30.8</c:v>
                </c:pt>
                <c:pt idx="41">
                  <c:v>30.8</c:v>
                </c:pt>
                <c:pt idx="42">
                  <c:v>30.8</c:v>
                </c:pt>
                <c:pt idx="43">
                  <c:v>30.8</c:v>
                </c:pt>
                <c:pt idx="44">
                  <c:v>30.8</c:v>
                </c:pt>
                <c:pt idx="45">
                  <c:v>30.8</c:v>
                </c:pt>
                <c:pt idx="46">
                  <c:v>30.8</c:v>
                </c:pt>
                <c:pt idx="47">
                  <c:v>30.8</c:v>
                </c:pt>
                <c:pt idx="48">
                  <c:v>30.8</c:v>
                </c:pt>
                <c:pt idx="49">
                  <c:v>30.8</c:v>
                </c:pt>
                <c:pt idx="50">
                  <c:v>30.8</c:v>
                </c:pt>
                <c:pt idx="51">
                  <c:v>30.8</c:v>
                </c:pt>
                <c:pt idx="52">
                  <c:v>30.8</c:v>
                </c:pt>
                <c:pt idx="53">
                  <c:v>30.8</c:v>
                </c:pt>
                <c:pt idx="54">
                  <c:v>30.8</c:v>
                </c:pt>
                <c:pt idx="55">
                  <c:v>30.8</c:v>
                </c:pt>
                <c:pt idx="56">
                  <c:v>30.8</c:v>
                </c:pt>
                <c:pt idx="57">
                  <c:v>30.8</c:v>
                </c:pt>
                <c:pt idx="58">
                  <c:v>30.8</c:v>
                </c:pt>
                <c:pt idx="59">
                  <c:v>30.8</c:v>
                </c:pt>
                <c:pt idx="60">
                  <c:v>26.3</c:v>
                </c:pt>
                <c:pt idx="61">
                  <c:v>26.3</c:v>
                </c:pt>
                <c:pt idx="62">
                  <c:v>26.3</c:v>
                </c:pt>
                <c:pt idx="63">
                  <c:v>26.3</c:v>
                </c:pt>
                <c:pt idx="64">
                  <c:v>26.3</c:v>
                </c:pt>
                <c:pt idx="65">
                  <c:v>26.3</c:v>
                </c:pt>
                <c:pt idx="66">
                  <c:v>26.3</c:v>
                </c:pt>
                <c:pt idx="67">
                  <c:v>26.3</c:v>
                </c:pt>
                <c:pt idx="68">
                  <c:v>26.3</c:v>
                </c:pt>
                <c:pt idx="69">
                  <c:v>26.3</c:v>
                </c:pt>
                <c:pt idx="70">
                  <c:v>26.3</c:v>
                </c:pt>
                <c:pt idx="71">
                  <c:v>26.3</c:v>
                </c:pt>
                <c:pt idx="72">
                  <c:v>26.3</c:v>
                </c:pt>
                <c:pt idx="73">
                  <c:v>26.3</c:v>
                </c:pt>
                <c:pt idx="74">
                  <c:v>26.3</c:v>
                </c:pt>
                <c:pt idx="75">
                  <c:v>26.3</c:v>
                </c:pt>
                <c:pt idx="76">
                  <c:v>26.3</c:v>
                </c:pt>
                <c:pt idx="77">
                  <c:v>26.3</c:v>
                </c:pt>
                <c:pt idx="78">
                  <c:v>26.3</c:v>
                </c:pt>
                <c:pt idx="79">
                  <c:v>26.3</c:v>
                </c:pt>
                <c:pt idx="80">
                  <c:v>26.3</c:v>
                </c:pt>
                <c:pt idx="81">
                  <c:v>26.3</c:v>
                </c:pt>
                <c:pt idx="82">
                  <c:v>26.3</c:v>
                </c:pt>
                <c:pt idx="83">
                  <c:v>26.3</c:v>
                </c:pt>
                <c:pt idx="84">
                  <c:v>26.3</c:v>
                </c:pt>
                <c:pt idx="85">
                  <c:v>26.3</c:v>
                </c:pt>
                <c:pt idx="86">
                  <c:v>26.3</c:v>
                </c:pt>
                <c:pt idx="87">
                  <c:v>26.3</c:v>
                </c:pt>
                <c:pt idx="88">
                  <c:v>26.3</c:v>
                </c:pt>
                <c:pt idx="89">
                  <c:v>26.3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26-4473-98E9-0C1E1C0F36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C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5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C8B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7A8C8B"/>
                    </a:solidFill>
                    <a:latin typeface="+mn-lt"/>
                  </a:rPr>
                  <a:t>µg/m³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C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25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ini fokus pada edge computing di hardware. Pertemuan ini adalah yang pertama dari tiga topik: edge computing, akuisisi/transmisi data, lalu pengantar backend-frontend.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semua contoh kode diuji untuk core 1.0.6. Beberapa perilaku berbeda di core 2.x ke atas, misalnya File.name() di SPIFFS tidak lagi mengembalikan path lengkap.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Catatan: wHead tidak dipakai di isOutlier karena urutan tidak penting setelah disortir. Saat wCnt &lt; WIN, hanya n elemen pertama yang terisi karena head dimulai dari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Diskusi kelas: kalau outlier tidak dimasukkan ke jendela, apa yang terjadi saat ada kebakaran lahan yang membuat PM2.5 naik terus selama berjam-jam? Jawaban: semua data akan terus ditandai outlier karena jendela tidak pernah beradaptasi.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Panggil enforceQuota() sekali per jam saat pergantian jam, bukan setiap menit, karena iterasi direktori SPIFFS relatif lambat.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hourRollover() berisi: finalizeHour(), storeHour() untuk jam sebelumnya, tulis baris ke file /h&lt;dayKey&gt;.csv, hitung avg24(), lalu enforceQuota(). Lewati finalisasi pada iterasi pertama (curHour awal = 255). Urutannya penting: tutup jam lama dulu, baru tambahkan sampel baru ke akumulator jam baru. INTERVAL didefinisikan #define INTERVAL 120; karena 120 membagi 3600 dan offset WIB 7 jam, slot selalu jatuh di menit genap waktu lokal.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IoT Cerdas  ·  Edge Computing pada ESP32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Edge Computing pada ESP32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Pengolahan data sensor kualitas udara langsung di perangkat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Mata Kuliah IoT Cerdas  ·  Program Magister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Indra Chandra - Eka Sugiarto</a:t>
            </a:r>
            <a:endParaRPr lang="en-US" sz="1300" dirty="0"/>
          </a:p>
        </p:txBody>
      </p:sp>
      <p:sp>
        <p:nvSpPr>
          <p:cNvPr id="5" name="chip-CO₂"/>
          <p:cNvSpPr/>
          <p:nvPr/>
        </p:nvSpPr>
        <p:spPr>
          <a:xfrm>
            <a:off x="6400800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CO₂</a:t>
            </a:r>
            <a:endParaRPr lang="en-US" sz="1600" dirty="0"/>
          </a:p>
        </p:txBody>
      </p:sp>
      <p:sp>
        <p:nvSpPr>
          <p:cNvPr id="7" name="chip-PM2.5"/>
          <p:cNvSpPr/>
          <p:nvPr/>
        </p:nvSpPr>
        <p:spPr>
          <a:xfrm>
            <a:off x="7178040" y="3931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780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PM2.5</a:t>
            </a:r>
            <a:endParaRPr lang="en-US" sz="1600" dirty="0"/>
          </a:p>
        </p:txBody>
      </p:sp>
      <p:sp>
        <p:nvSpPr>
          <p:cNvPr id="9" name="chip-T/RH"/>
          <p:cNvSpPr/>
          <p:nvPr/>
        </p:nvSpPr>
        <p:spPr>
          <a:xfrm>
            <a:off x="7955280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T/RH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Capaian Pembelajaran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Setelah sesi ini, mahasiswa mampu:</a:t>
            </a:r>
            <a:endParaRPr lang="en-US" sz="1400" dirty="0"/>
          </a:p>
        </p:txBody>
      </p:sp>
      <p:sp>
        <p:nvSpPr>
          <p:cNvPr id="4" name="chip-1"/>
          <p:cNvSpPr/>
          <p:nvPr/>
        </p:nvSpPr>
        <p:spPr>
          <a:xfrm>
            <a:off x="457200" y="1536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Validasi rentang ukur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64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Menandai nilai sensor di luar rentang datasheet dan galat pembacaan dengan flag kualitas.</a:t>
            </a:r>
            <a:endParaRPr lang="en-US" sz="1200" dirty="0"/>
          </a:p>
        </p:txBody>
      </p:sp>
      <p:sp>
        <p:nvSpPr>
          <p:cNvPr id="8" name="chip-2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Indeks waktu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Memakai jam internal ESP32 (NTP) untuk mengindeks data per hari, jam, dan menit.</a:t>
            </a:r>
            <a:endParaRPr lang="en-US" sz="1200" dirty="0"/>
          </a:p>
        </p:txBody>
      </p:sp>
      <p:sp>
        <p:nvSpPr>
          <p:cNvPr id="12" name="chip-3"/>
          <p:cNvSpPr/>
          <p:nvPr/>
        </p:nvSpPr>
        <p:spPr>
          <a:xfrm>
            <a:off x="457200" y="36393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66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Deteksi outlier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67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Mengimplementasikan metode boxplot (IQR, pagar Tukey) pada jendela bergulir.</a:t>
            </a:r>
            <a:endParaRPr lang="en-US" sz="1200" dirty="0"/>
          </a:p>
        </p:txBody>
      </p:sp>
      <p:sp>
        <p:nvSpPr>
          <p:cNvPr id="16" name="chip-4"/>
          <p:cNvSpPr/>
          <p:nvPr/>
        </p:nvSpPr>
        <p:spPr>
          <a:xfrm>
            <a:off x="4663440" y="1536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Penyimpanan lokal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764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Merancang format, kapasitas, dan rotasi file data di SPIFFS.</a:t>
            </a:r>
            <a:endParaRPr lang="en-US" sz="1200" dirty="0"/>
          </a:p>
        </p:txBody>
      </p:sp>
      <p:sp>
        <p:nvSpPr>
          <p:cNvPr id="20" name="chip-5"/>
          <p:cNvSpPr/>
          <p:nvPr/>
        </p:nvSpPr>
        <p:spPr>
          <a:xfrm>
            <a:off x="466344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Agregasi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8163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Menghitung rata-rata per jam dan per 24 jam dengan aturan kelengkapan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Mengapa Komputasi di Edge?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Aspek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Semua diolah di cloud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Edge-first (ESP32)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Bandwidth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Kirim setiap sampel mentah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Kirim data bersih + agregat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Saat WiFi putus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 hilang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Tersimpan di SPIFFS, dikirim ulang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Kualitas data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Disaring belakangan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Diberi flag sejak di sumber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Latensi deteksi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Bergantung jaringan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Seketika di perangkat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tat-bg"/>
          <p:cNvSpPr/>
          <p:nvPr/>
        </p:nvSpPr>
        <p:spPr>
          <a:xfrm>
            <a:off x="6217920" y="1097280"/>
            <a:ext cx="2468880" cy="2514600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720 → 24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sampel per parameter per hari yang perlu dikirim bila hanya rata-rata per jam yang diunggah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Data mentah tetap tersimpan lokal sebagai cadangan dan audit.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Batasan Platform Praktikum</a:t>
            </a:r>
            <a:endParaRPr lang="en-US" sz="2800" dirty="0"/>
          </a:p>
        </p:txBody>
      </p:sp>
      <p:sp>
        <p:nvSpPr>
          <p:cNvPr id="3" name="card-Perangkat keras: ESP32"/>
          <p:cNvSpPr/>
          <p:nvPr/>
        </p:nvSpPr>
        <p:spPr>
          <a:xfrm>
            <a:off x="457200" y="109728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Perangkat keras: ESP32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3648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CPU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Xtensa LX6 dual-core, 240 MHz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SRAM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520 KB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Flash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4 MB (modul WROOM-32)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08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Radio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WiFi 2,4 GHz + Bluetooth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Antarmuka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UART ×3, I²C, SPI, ADC</a:t>
            </a:r>
            <a:endParaRPr lang="en-US" sz="1300" dirty="0"/>
          </a:p>
        </p:txBody>
      </p:sp>
      <p:sp>
        <p:nvSpPr>
          <p:cNvPr id="16" name="card-Perangkat lunak"/>
          <p:cNvSpPr/>
          <p:nvPr/>
        </p:nvSpPr>
        <p:spPr>
          <a:xfrm>
            <a:off x="4709160" y="109728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1207008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Perangkat lunak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73752" y="1554480"/>
            <a:ext cx="3648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Arduino IDE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2103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arduino-esp32 v1.0.6 (ESP-IDF v3.3)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606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Board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ESP32 Dev Module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Partisi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Default 4MB with spiffs (1.5 MB SPIFFS)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Catatan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LittleFS &amp; API timer baru baru ada di core 2.x/3.x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Sensor dan Rentang Ukurnya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Contoh sensor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Antarmuka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Rentang ukur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Akurasi (datasheet)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CO₂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MH-Z19B (NDIR)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UART 9600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0–5000 ppm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±(50 ppm + 5%)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PM2.5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Plantower PMS5003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UART 9600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0–500 µg/m³ efektif, maks 1000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±10 µg/m³ / ±10%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Suhu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Sensirion SHT31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I²C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−40 – 125 °C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±0,3 °C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Kelembapan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Sensirion SHT31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I²C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0–100 %RH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±2 %RH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hip-!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!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1005840" y="38221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Kolom rentang ukur menjadi dasar batas validasi di edge. Selalu ambil dari datasheet sensor yang benar-benar dipakai (mis. DHT22: −40–80 °C).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Alur Pengolahan di Edge</a:t>
            </a:r>
            <a:endParaRPr lang="en-US" sz="2800" dirty="0"/>
          </a:p>
        </p:txBody>
      </p:sp>
      <p:sp>
        <p:nvSpPr>
          <p:cNvPr id="3" name="step-0"/>
          <p:cNvSpPr/>
          <p:nvPr/>
        </p:nvSpPr>
        <p:spPr>
          <a:xfrm>
            <a:off x="457200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Baca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sensor</a:t>
            </a:r>
            <a:endParaRPr lang="en-US" sz="1400" dirty="0"/>
          </a:p>
        </p:txBody>
      </p:sp>
      <p:sp>
        <p:nvSpPr>
          <p:cNvPr id="5" name="arrow-0"/>
          <p:cNvSpPr/>
          <p:nvPr/>
        </p:nvSpPr>
        <p:spPr>
          <a:xfrm rot="5400000">
            <a:off x="1536192" y="2148840"/>
            <a:ext cx="9144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step-1"/>
          <p:cNvSpPr/>
          <p:nvPr/>
        </p:nvSpPr>
        <p:spPr>
          <a:xfrm>
            <a:off x="1655064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hip-1"/>
          <p:cNvSpPr/>
          <p:nvPr/>
        </p:nvSpPr>
        <p:spPr>
          <a:xfrm>
            <a:off x="1979676" y="13533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9676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Validasi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rentang</a:t>
            </a:r>
            <a:endParaRPr lang="en-US" sz="1400" dirty="0"/>
          </a:p>
        </p:txBody>
      </p:sp>
      <p:sp>
        <p:nvSpPr>
          <p:cNvPr id="10" name="arrow-1"/>
          <p:cNvSpPr/>
          <p:nvPr/>
        </p:nvSpPr>
        <p:spPr>
          <a:xfrm rot="5400000">
            <a:off x="2734056" y="2148840"/>
            <a:ext cx="9144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ep-2"/>
          <p:cNvSpPr/>
          <p:nvPr/>
        </p:nvSpPr>
        <p:spPr>
          <a:xfrm>
            <a:off x="2852928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hip-2"/>
          <p:cNvSpPr/>
          <p:nvPr/>
        </p:nvSpPr>
        <p:spPr>
          <a:xfrm>
            <a:off x="3177540" y="13533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7754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Beri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cap waktu</a:t>
            </a:r>
            <a:endParaRPr lang="en-US" sz="1400" dirty="0"/>
          </a:p>
        </p:txBody>
      </p:sp>
      <p:sp>
        <p:nvSpPr>
          <p:cNvPr id="15" name="arrow-2"/>
          <p:cNvSpPr/>
          <p:nvPr/>
        </p:nvSpPr>
        <p:spPr>
          <a:xfrm rot="5400000">
            <a:off x="3931920" y="2148840"/>
            <a:ext cx="9144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tep-3"/>
          <p:cNvSpPr/>
          <p:nvPr/>
        </p:nvSpPr>
        <p:spPr>
          <a:xfrm>
            <a:off x="4050792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hip-3"/>
          <p:cNvSpPr/>
          <p:nvPr/>
        </p:nvSpPr>
        <p:spPr>
          <a:xfrm>
            <a:off x="4375404" y="13533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5404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96512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Cek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outlier IQR</a:t>
            </a:r>
            <a:endParaRPr lang="en-US" sz="1400" dirty="0"/>
          </a:p>
        </p:txBody>
      </p:sp>
      <p:sp>
        <p:nvSpPr>
          <p:cNvPr id="20" name="arrow-3"/>
          <p:cNvSpPr/>
          <p:nvPr/>
        </p:nvSpPr>
        <p:spPr>
          <a:xfrm rot="5400000">
            <a:off x="5129784" y="2148840"/>
            <a:ext cx="9144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tep-4"/>
          <p:cNvSpPr/>
          <p:nvPr/>
        </p:nvSpPr>
        <p:spPr>
          <a:xfrm>
            <a:off x="5248656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hip-4"/>
          <p:cNvSpPr/>
          <p:nvPr/>
        </p:nvSpPr>
        <p:spPr>
          <a:xfrm>
            <a:off x="5573268" y="13533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326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94376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Simpan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ke SPIFFS</a:t>
            </a:r>
            <a:endParaRPr lang="en-US" sz="1400" dirty="0"/>
          </a:p>
        </p:txBody>
      </p:sp>
      <p:sp>
        <p:nvSpPr>
          <p:cNvPr id="25" name="arrow-4"/>
          <p:cNvSpPr/>
          <p:nvPr/>
        </p:nvSpPr>
        <p:spPr>
          <a:xfrm rot="5400000">
            <a:off x="6327648" y="2148840"/>
            <a:ext cx="9144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step-5"/>
          <p:cNvSpPr/>
          <p:nvPr/>
        </p:nvSpPr>
        <p:spPr>
          <a:xfrm>
            <a:off x="6446520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chip-5"/>
          <p:cNvSpPr/>
          <p:nvPr/>
        </p:nvSpPr>
        <p:spPr>
          <a:xfrm>
            <a:off x="6771132" y="13533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7113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Agregasi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jam &amp; 24 jam</a:t>
            </a:r>
            <a:endParaRPr lang="en-US" sz="1400" dirty="0"/>
          </a:p>
        </p:txBody>
      </p:sp>
      <p:sp>
        <p:nvSpPr>
          <p:cNvPr id="30" name="arrow-5"/>
          <p:cNvSpPr/>
          <p:nvPr/>
        </p:nvSpPr>
        <p:spPr>
          <a:xfrm rot="5400000">
            <a:off x="7525512" y="2148840"/>
            <a:ext cx="9144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step-6"/>
          <p:cNvSpPr/>
          <p:nvPr/>
        </p:nvSpPr>
        <p:spPr>
          <a:xfrm>
            <a:off x="7644384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90104" y="182880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Kirim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(pertemuan 2)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Prinsip: </a:t>
            </a:r>
            <a:r>
              <a:rPr lang="en-US" sz="1400" dirty="0">
                <a:solidFill>
                  <a:schemeClr val="tx1"/>
                </a:solidFill>
              </a:rPr>
              <a:t>nilai mentah tidak pernah dihapus. Setiap tahap hanya menambah flag kualitas, sehingga keputusan akhir (pakai atau buang) tetap bisa diaudit di server.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Validasi Rentang Ukur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Mendeteksi nilai di luar kemampuan fisik sensor dan galat pembacaan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Kapan Nilai Sensor Tidak Sah?</a:t>
            </a:r>
            <a:endParaRPr lang="en-US" sz="2800" dirty="0"/>
          </a:p>
        </p:txBody>
      </p:sp>
      <p:sp>
        <p:nvSpPr>
          <p:cNvPr id="3" name="card-Di luar rentang fisik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 luar rentang fisik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Nilai &lt; batas bawah atau &gt; batas atas datasheet, mis. RH 112 % atau PM2.5 negatif.</a:t>
            </a:r>
            <a:endParaRPr lang="en-US" sz="1200" dirty="0"/>
          </a:p>
        </p:txBody>
      </p:sp>
      <p:sp>
        <p:nvSpPr>
          <p:cNvPr id="6" name="card-Galat pembacaan"/>
          <p:cNvSpPr/>
          <p:nvPr/>
        </p:nvSpPr>
        <p:spPr>
          <a:xfrm>
            <a:off x="457200" y="21945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30428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Galat pembacaan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65176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NaN dari library SHT/DHT, timeout UART, checksum frame PMS5003 tidak cocok.</a:t>
            </a:r>
            <a:endParaRPr lang="en-US" sz="1200" dirty="0"/>
          </a:p>
        </p:txBody>
      </p:sp>
      <p:sp>
        <p:nvSpPr>
          <p:cNvPr id="9" name="card-Saturasi"/>
          <p:cNvSpPr/>
          <p:nvPr/>
        </p:nvSpPr>
        <p:spPr>
          <a:xfrm>
            <a:off x="457200" y="329184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40156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Saturasi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74904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Nilai menempel tepat di batas (CO₂ = 5000 ppm terus-menerus) → sensor jenuh.</a:t>
            </a:r>
            <a:endParaRPr lang="en-US" sz="1200" dirty="0"/>
          </a:p>
        </p:txBody>
      </p:sp>
      <p:sp>
        <p:nvSpPr>
          <p:cNvPr id="12" name="zone-low"/>
          <p:cNvSpPr/>
          <p:nvPr/>
        </p:nvSpPr>
        <p:spPr>
          <a:xfrm>
            <a:off x="4937760" y="2377440"/>
            <a:ext cx="82296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zone-ok"/>
          <p:cNvSpPr/>
          <p:nvPr/>
        </p:nvSpPr>
        <p:spPr>
          <a:xfrm>
            <a:off x="5760720" y="2377440"/>
            <a:ext cx="2103120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zone-high"/>
          <p:cNvSpPr/>
          <p:nvPr/>
        </p:nvSpPr>
        <p:spPr>
          <a:xfrm>
            <a:off x="7863840" y="2377440"/>
            <a:ext cx="82296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F_RANGE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sah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F_RANGE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min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max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Rentang datasheet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29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Jangan dibuang diam-diam. Simpan nilai mentah + flag.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Flag Kualitas sebagai Bitmask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Bit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Konstanta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Nilai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F_RANGE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 luar rentang ukur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F_OUTLIER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Outlier menurut IQR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F_NOTIME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Jam belum tersinkron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F_SENSOR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Galat baca / NaN / timeout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 byte per parameter, bisa digabung. Nilai 0 berarti data bersih.</a:t>
            </a:r>
            <a:endParaRPr lang="en-US" sz="1300" dirty="0"/>
          </a:p>
        </p:txBody>
      </p:sp>
      <p:sp>
        <p:nvSpPr>
          <p:cNvPr id="5" name="code-flag-bg"/>
          <p:cNvSpPr/>
          <p:nvPr/>
        </p:nvSpPr>
        <p:spPr>
          <a:xfrm>
            <a:off x="5486400" y="1097280"/>
            <a:ext cx="320040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-flag"/>
          <p:cNvSpPr txBox="1"/>
          <p:nvPr/>
        </p:nvSpPr>
        <p:spPr>
          <a:xfrm>
            <a:off x="5532120" y="1143000"/>
            <a:ext cx="310896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fl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 |= F_OUTLIER;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 |= F_NOTIME;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 == 0x06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(fl &amp; F_OUTLIER)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ditandai outlier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bersih = (fl == 0);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Validasi Rentang</a:t>
            </a:r>
            <a:endParaRPr lang="en-US" sz="2800" dirty="0"/>
          </a:p>
        </p:txBody>
      </p:sp>
      <p:sp>
        <p:nvSpPr>
          <p:cNvPr id="3" name="code-range-bg"/>
          <p:cNvSpPr/>
          <p:nvPr/>
        </p:nvSpPr>
        <p:spPr>
          <a:xfrm>
            <a:off x="457200" y="1051560"/>
            <a:ext cx="512064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range"/>
          <p:cNvSpPr txBox="1"/>
          <p:nvPr/>
        </p:nvSpPr>
        <p:spPr>
          <a:xfrm>
            <a:off x="502920" y="1097280"/>
            <a:ext cx="502920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F_RANGE   0x01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F_OUTLIER 0x02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F_NOTIME  0x04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F_SENSOR  0x08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Spec { float minV, maxV;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Spec SPEC_CO2  = {0, 5000};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ppm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Spec SPEC_PM25 = {0, 1000};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ug/m3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Spec SPEC_TEMP = {-40, 125};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degC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Spec SPEC_RH   = {0, 100}; 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%RH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checkRange(float v, const Spec &amp;s)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(isnan(v)) return F_SENSOR;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 &lt; s.minV || v &gt; s.maxV) return F_RANGE;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card-Batas keras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16752" y="116128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Batas keras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1508760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Dari datasheet. Nilai di luar batas pasti tidak sah dan tidak masuk jendela outlier maupun rata-rata.</a:t>
            </a:r>
            <a:endParaRPr lang="en-US" sz="1200" dirty="0"/>
          </a:p>
        </p:txBody>
      </p:sp>
      <p:sp>
        <p:nvSpPr>
          <p:cNvPr id="8" name="card-Batas lunak (opsional)"/>
          <p:cNvSpPr/>
          <p:nvPr/>
        </p:nvSpPr>
        <p:spPr>
          <a:xfrm>
            <a:off x="5852160" y="2788920"/>
            <a:ext cx="28346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16752" y="289864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Batas lunak (opsional)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16752" y="3246120"/>
            <a:ext cx="2505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Plausibilitas lokasi, mis. CO₂ luar ruang &lt; 350 ppm patut dicurigai. Beri flag terpisah, jangan langsung tolak.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Waktu Internal sebagai Indeks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Memakai jam ESP32 untuk mengindeks data per hari, jam, dan menit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Jam Internal ESP32</a:t>
            </a:r>
            <a:endParaRPr lang="en-US" sz="2800" dirty="0"/>
          </a:p>
        </p:txBody>
      </p:sp>
      <p:sp>
        <p:nvSpPr>
          <p:cNvPr id="3" name="flow-0"/>
          <p:cNvSpPr/>
          <p:nvPr/>
        </p:nvSpPr>
        <p:spPr>
          <a:xfrm>
            <a:off x="457200" y="10972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Boot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epoch = 0 (1970)</a:t>
            </a:r>
            <a:endParaRPr lang="en-US" sz="1400" dirty="0"/>
          </a:p>
        </p:txBody>
      </p:sp>
      <p:sp>
        <p:nvSpPr>
          <p:cNvPr id="5" name="farrow-0"/>
          <p:cNvSpPr/>
          <p:nvPr/>
        </p:nvSpPr>
        <p:spPr>
          <a:xfrm rot="5400000">
            <a:off x="2331720" y="1435608"/>
            <a:ext cx="109728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flow-1"/>
          <p:cNvSpPr/>
          <p:nvPr/>
        </p:nvSpPr>
        <p:spPr>
          <a:xfrm>
            <a:off x="2560320" y="10972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WiFi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terhubung</a:t>
            </a:r>
            <a:endParaRPr lang="en-US" sz="1400" dirty="0"/>
          </a:p>
        </p:txBody>
      </p:sp>
      <p:sp>
        <p:nvSpPr>
          <p:cNvPr id="8" name="farrow-1"/>
          <p:cNvSpPr/>
          <p:nvPr/>
        </p:nvSpPr>
        <p:spPr>
          <a:xfrm rot="5400000">
            <a:off x="4434840" y="1435608"/>
            <a:ext cx="109728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flow-2"/>
          <p:cNvSpPr/>
          <p:nvPr/>
        </p:nvSpPr>
        <p:spPr>
          <a:xfrm>
            <a:off x="4663440" y="10972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NTP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configTime()</a:t>
            </a:r>
            <a:endParaRPr lang="en-US" sz="1400" dirty="0"/>
          </a:p>
        </p:txBody>
      </p:sp>
      <p:sp>
        <p:nvSpPr>
          <p:cNvPr id="11" name="farrow-2"/>
          <p:cNvSpPr/>
          <p:nvPr/>
        </p:nvSpPr>
        <p:spPr>
          <a:xfrm rot="5400000">
            <a:off x="6537960" y="1435608"/>
            <a:ext cx="109728" cy="201168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flow-3"/>
          <p:cNvSpPr/>
          <p:nvPr/>
        </p:nvSpPr>
        <p:spPr>
          <a:xfrm>
            <a:off x="6766560" y="10972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0972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Waktu valid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epoch &gt; 2023</a:t>
            </a:r>
            <a:endParaRPr lang="en-US" sz="1400" dirty="0"/>
          </a:p>
        </p:txBody>
      </p:sp>
      <p:sp>
        <p:nvSpPr>
          <p:cNvPr id="14" name="card-Cara kerja"/>
          <p:cNvSpPr/>
          <p:nvPr/>
        </p:nvSpPr>
        <p:spPr>
          <a:xfrm>
            <a:off x="457200" y="224028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350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Cara kerja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2697480"/>
            <a:ext cx="2276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Waktu sistem (time_t, detik sejak 1970) dijaga timer dari kristal 40 MHz selama chip aktif. SNTP menyinkronkan ulang secara berkala.</a:t>
            </a:r>
            <a:endParaRPr lang="en-US" sz="1200" dirty="0"/>
          </a:p>
        </p:txBody>
      </p:sp>
      <p:sp>
        <p:nvSpPr>
          <p:cNvPr id="17" name="card-Zona waktu"/>
          <p:cNvSpPr/>
          <p:nvPr/>
        </p:nvSpPr>
        <p:spPr>
          <a:xfrm>
            <a:off x="3268980" y="224028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33572" y="2350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Zona waktu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33572" y="2697480"/>
            <a:ext cx="2276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WIB = UTC+7 → gmtOffset = 25200 detik, tanpa DST. localtime_r() menghasilkan struct tm lokal.</a:t>
            </a:r>
            <a:endParaRPr lang="en-US" sz="1200" dirty="0"/>
          </a:p>
        </p:txBody>
      </p:sp>
      <p:sp>
        <p:nvSpPr>
          <p:cNvPr id="20" name="card-Keterbatasan"/>
          <p:cNvSpPr/>
          <p:nvPr/>
        </p:nvSpPr>
        <p:spPr>
          <a:xfrm>
            <a:off x="6080760" y="224028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45352" y="2350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Keterbatasan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2697480"/>
            <a:ext cx="2276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Tanpa baterai, waktu hilang saat reset. Drift lebih besar saat deep sleep. Sering offline → RTC eksternal (DS3231).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Sinkronisasi NTP</a:t>
            </a:r>
            <a:endParaRPr lang="en-US" sz="2800" dirty="0"/>
          </a:p>
        </p:txBody>
      </p:sp>
      <p:sp>
        <p:nvSpPr>
          <p:cNvPr id="3" name="code-ntp-bg"/>
          <p:cNvSpPr/>
          <p:nvPr/>
        </p:nvSpPr>
        <p:spPr>
          <a:xfrm>
            <a:off x="457200" y="1051560"/>
            <a:ext cx="512064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ntp"/>
          <p:cNvSpPr txBox="1"/>
          <p:nvPr/>
        </p:nvSpPr>
        <p:spPr>
          <a:xfrm>
            <a:off x="502920" y="1097280"/>
            <a:ext cx="502920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&lt;WiFi.h&gt;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"time.h"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long GMT_OFFSET = 7 * 3600;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 DST_OFFSET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initTime()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configTime(GMT_OFFSET, DST_OFFSET,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"id.pool.ntp.org", "pool.ntp.org");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tm ti;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(!getLocalTime(&amp;ti, 10000))   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tunggu 10 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Serial.println("NTP belum sinkron");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timeValid()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time(nullptr) &gt; 1700000000; </a:t>
            </a: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&gt; Nov 2023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1097280"/>
            <a:ext cx="2880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Panggil initTime() setelah WiFi.status() == WL_CONNECTED.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configTime() bersifat non-blocking; getLocalTime() yang menunggu.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Selama timeValid() == false, setiap sampel diberi F_NOTIME.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Setelah sinkron, jam tetap berjalan walau WiFi putus.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Dari Epoch ke Indeks Hari–Jam–Menit</a:t>
            </a:r>
            <a:endParaRPr lang="en-US" sz="2800" dirty="0"/>
          </a:p>
        </p:txBody>
      </p:sp>
      <p:sp>
        <p:nvSpPr>
          <p:cNvPr id="3" name="code-idx-bg"/>
          <p:cNvSpPr/>
          <p:nvPr/>
        </p:nvSpPr>
        <p:spPr>
          <a:xfrm>
            <a:off x="457200" y="1051560"/>
            <a:ext cx="512064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idx"/>
          <p:cNvSpPr txBox="1"/>
          <p:nvPr/>
        </p:nvSpPr>
        <p:spPr>
          <a:xfrm>
            <a:off x="502920" y="1097280"/>
            <a:ext cx="502920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TimeIdx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uint32_t dayKey;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YYYYMMDD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uint8_t  wday;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0=Minggu .. 6=Sabtu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uint8_t  hour;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0..23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uint8_t  minute;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0..59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uint16_t minOfDay;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0..1439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TimeIdx makeIdx(time_t 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tm ti;  localtime_r(&amp;t, &amp;ti);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TimeIdx 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x.dayKey   = (ti.tm_year + 1900) * 10000UL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(ti.tm_mon + 1) * 100 + ti.tm_mday;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x.wday     = ti.tm_wday;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x.hour     = ti.tm_hour;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x.minute   = ti.tm_min;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x.minOfDay = ti.tm_hour * 60 + ti.tm_min;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idx-example"/>
          <p:cNvSpPr/>
          <p:nvPr/>
        </p:nvSpPr>
        <p:spPr>
          <a:xfrm>
            <a:off x="5852160" y="1051560"/>
            <a:ext cx="2834640" cy="35204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Contoh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Sabtu, 03-10-2026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14:35 WIB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dayKey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1"/>
                </a:solidFill>
              </a:rPr>
              <a:t>20261003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624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wday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6243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0540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0540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1"/>
                </a:solidFill>
              </a:rPr>
              <a:t>14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483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4838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1"/>
                </a:solidFill>
              </a:rPr>
              <a:t>35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913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minOfDay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913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1"/>
                </a:solidFill>
              </a:rPr>
              <a:t>875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Pola Pemakaian Indeks Waktu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Satu hari = 24 slot jam = 720 sampel (interval 2 menit)</a:t>
            </a:r>
            <a:endParaRPr lang="en-US" sz="1300" dirty="0"/>
          </a:p>
        </p:txBody>
      </p:sp>
      <p:sp>
        <p:nvSpPr>
          <p:cNvPr id="4" name="hour-0"/>
          <p:cNvSpPr/>
          <p:nvPr/>
        </p:nvSpPr>
        <p:spPr>
          <a:xfrm>
            <a:off x="4572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288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00</a:t>
            </a:r>
            <a:endParaRPr lang="en-US" sz="1000" dirty="0"/>
          </a:p>
        </p:txBody>
      </p:sp>
      <p:sp>
        <p:nvSpPr>
          <p:cNvPr id="6" name="hour-1"/>
          <p:cNvSpPr/>
          <p:nvPr/>
        </p:nvSpPr>
        <p:spPr>
          <a:xfrm>
            <a:off x="8001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" name="hour-2"/>
          <p:cNvSpPr/>
          <p:nvPr/>
        </p:nvSpPr>
        <p:spPr>
          <a:xfrm>
            <a:off x="11430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hour-3"/>
          <p:cNvSpPr/>
          <p:nvPr/>
        </p:nvSpPr>
        <p:spPr>
          <a:xfrm>
            <a:off x="14859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" name="hour-4"/>
          <p:cNvSpPr/>
          <p:nvPr/>
        </p:nvSpPr>
        <p:spPr>
          <a:xfrm>
            <a:off x="18288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hour-5"/>
          <p:cNvSpPr/>
          <p:nvPr/>
        </p:nvSpPr>
        <p:spPr>
          <a:xfrm>
            <a:off x="21717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1" name="hour-6"/>
          <p:cNvSpPr/>
          <p:nvPr/>
        </p:nvSpPr>
        <p:spPr>
          <a:xfrm>
            <a:off x="25146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18288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06</a:t>
            </a:r>
            <a:endParaRPr lang="en-US" sz="1000" dirty="0"/>
          </a:p>
        </p:txBody>
      </p:sp>
      <p:sp>
        <p:nvSpPr>
          <p:cNvPr id="13" name="hour-7"/>
          <p:cNvSpPr/>
          <p:nvPr/>
        </p:nvSpPr>
        <p:spPr>
          <a:xfrm>
            <a:off x="28575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hour-8"/>
          <p:cNvSpPr/>
          <p:nvPr/>
        </p:nvSpPr>
        <p:spPr>
          <a:xfrm>
            <a:off x="32004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5" name="hour-9"/>
          <p:cNvSpPr/>
          <p:nvPr/>
        </p:nvSpPr>
        <p:spPr>
          <a:xfrm>
            <a:off x="35433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hour-10"/>
          <p:cNvSpPr/>
          <p:nvPr/>
        </p:nvSpPr>
        <p:spPr>
          <a:xfrm>
            <a:off x="38862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7" name="hour-11"/>
          <p:cNvSpPr/>
          <p:nvPr/>
        </p:nvSpPr>
        <p:spPr>
          <a:xfrm>
            <a:off x="42291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hour-12"/>
          <p:cNvSpPr/>
          <p:nvPr/>
        </p:nvSpPr>
        <p:spPr>
          <a:xfrm>
            <a:off x="45720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18288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12</a:t>
            </a:r>
            <a:endParaRPr lang="en-US" sz="1000" dirty="0"/>
          </a:p>
        </p:txBody>
      </p:sp>
      <p:sp>
        <p:nvSpPr>
          <p:cNvPr id="20" name="hour-13"/>
          <p:cNvSpPr/>
          <p:nvPr/>
        </p:nvSpPr>
        <p:spPr>
          <a:xfrm>
            <a:off x="49149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1" name="hour-14"/>
          <p:cNvSpPr/>
          <p:nvPr/>
        </p:nvSpPr>
        <p:spPr>
          <a:xfrm>
            <a:off x="5257800" y="1417320"/>
            <a:ext cx="310896" cy="384048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8288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14</a:t>
            </a:r>
            <a:endParaRPr lang="en-US" sz="1000" dirty="0"/>
          </a:p>
        </p:txBody>
      </p:sp>
      <p:sp>
        <p:nvSpPr>
          <p:cNvPr id="23" name="hour-15"/>
          <p:cNvSpPr/>
          <p:nvPr/>
        </p:nvSpPr>
        <p:spPr>
          <a:xfrm>
            <a:off x="56007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4" name="hour-16"/>
          <p:cNvSpPr/>
          <p:nvPr/>
        </p:nvSpPr>
        <p:spPr>
          <a:xfrm>
            <a:off x="59436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5" name="hour-17"/>
          <p:cNvSpPr/>
          <p:nvPr/>
        </p:nvSpPr>
        <p:spPr>
          <a:xfrm>
            <a:off x="62865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6" name="hour-18"/>
          <p:cNvSpPr/>
          <p:nvPr/>
        </p:nvSpPr>
        <p:spPr>
          <a:xfrm>
            <a:off x="66294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18288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18</a:t>
            </a:r>
            <a:endParaRPr lang="en-US" sz="1000" dirty="0"/>
          </a:p>
        </p:txBody>
      </p:sp>
      <p:sp>
        <p:nvSpPr>
          <p:cNvPr id="28" name="hour-19"/>
          <p:cNvSpPr/>
          <p:nvPr/>
        </p:nvSpPr>
        <p:spPr>
          <a:xfrm>
            <a:off x="69723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9" name="hour-20"/>
          <p:cNvSpPr/>
          <p:nvPr/>
        </p:nvSpPr>
        <p:spPr>
          <a:xfrm>
            <a:off x="73152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0" name="hour-21"/>
          <p:cNvSpPr/>
          <p:nvPr/>
        </p:nvSpPr>
        <p:spPr>
          <a:xfrm>
            <a:off x="76581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1" name="hour-22"/>
          <p:cNvSpPr/>
          <p:nvPr/>
        </p:nvSpPr>
        <p:spPr>
          <a:xfrm>
            <a:off x="80010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2" name="hour-23"/>
          <p:cNvSpPr/>
          <p:nvPr/>
        </p:nvSpPr>
        <p:spPr>
          <a:xfrm>
            <a:off x="8343900" y="1417320"/>
            <a:ext cx="310896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3" name="chip-1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Sampling selaras jam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25786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Ambil data tiap menit genap (00, 02, 04, …), bukan delay(120000), sehingga tidak bergeser.</a:t>
            </a:r>
            <a:endParaRPr lang="en-US" sz="1200" dirty="0"/>
          </a:p>
        </p:txBody>
      </p:sp>
      <p:sp>
        <p:nvSpPr>
          <p:cNvPr id="37" name="chip-2"/>
          <p:cNvSpPr/>
          <p:nvPr/>
        </p:nvSpPr>
        <p:spPr>
          <a:xfrm>
            <a:off x="4663440" y="2331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Deteksi pergantian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212080" y="25786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if (x.hour != lastHour) → tutup rata-rata jam. Hal sama untuk dayKey.</a:t>
            </a:r>
            <a:endParaRPr lang="en-US" sz="1200" dirty="0"/>
          </a:p>
        </p:txBody>
      </p:sp>
      <p:sp>
        <p:nvSpPr>
          <p:cNvPr id="41" name="chip-3"/>
          <p:cNvSpPr/>
          <p:nvPr/>
        </p:nvSpPr>
        <p:spPr>
          <a:xfrm>
            <a:off x="457200" y="3474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File per hari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" y="37216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Nama file dari dayKey, mis. /m20261003.csv, sehingga mudah dirotasi.</a:t>
            </a:r>
            <a:endParaRPr lang="en-US" sz="1200" dirty="0"/>
          </a:p>
        </p:txBody>
      </p:sp>
      <p:sp>
        <p:nvSpPr>
          <p:cNvPr id="45" name="chip-4"/>
          <p:cNvSpPr/>
          <p:nvPr/>
        </p:nvSpPr>
        <p:spPr>
          <a:xfrm>
            <a:off x="4663440" y="3474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634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21208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Penjadwalan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212080" y="37216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Tugas pada waktu tertentu, mis. unggah ringkasan pukul 00:05.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Deteksi Outlier dengan Boxplot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Metode IQR dan pagar Tukey pada jendela data bergulir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Boxplot dan Pagar Tukey</a:t>
            </a:r>
            <a:endParaRPr lang="en-US" sz="2800" dirty="0"/>
          </a:p>
        </p:txBody>
      </p:sp>
      <p:sp>
        <p:nvSpPr>
          <p:cNvPr id="3" name="whisker-l"/>
          <p:cNvSpPr/>
          <p:nvPr/>
        </p:nvSpPr>
        <p:spPr>
          <a:xfrm>
            <a:off x="763524" y="2331720"/>
            <a:ext cx="89496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4" name="whisker-r"/>
          <p:cNvSpPr/>
          <p:nvPr/>
        </p:nvSpPr>
        <p:spPr>
          <a:xfrm>
            <a:off x="2255139" y="2331720"/>
            <a:ext cx="89496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" name="box"/>
          <p:cNvSpPr/>
          <p:nvPr/>
        </p:nvSpPr>
        <p:spPr>
          <a:xfrm>
            <a:off x="1658493" y="2011680"/>
            <a:ext cx="596646" cy="64008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median"/>
          <p:cNvSpPr/>
          <p:nvPr/>
        </p:nvSpPr>
        <p:spPr>
          <a:xfrm>
            <a:off x="1890522" y="20116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7" name="fence-15"/>
          <p:cNvSpPr/>
          <p:nvPr/>
        </p:nvSpPr>
        <p:spPr>
          <a:xfrm>
            <a:off x="763524" y="1737360"/>
            <a:ext cx="0" cy="11887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</a:ln>
        </p:spPr>
      </p:sp>
      <p:sp>
        <p:nvSpPr>
          <p:cNvPr id="8" name="fence-33"/>
          <p:cNvSpPr/>
          <p:nvPr/>
        </p:nvSpPr>
        <p:spPr>
          <a:xfrm>
            <a:off x="3150108" y="1737360"/>
            <a:ext cx="0" cy="11887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</a:ln>
        </p:spPr>
      </p:sp>
      <p:sp>
        <p:nvSpPr>
          <p:cNvPr id="9" name="outlier-dot"/>
          <p:cNvSpPr/>
          <p:nvPr/>
        </p:nvSpPr>
        <p:spPr>
          <a:xfrm>
            <a:off x="3730752" y="2249424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outlier-dot2"/>
          <p:cNvSpPr/>
          <p:nvPr/>
        </p:nvSpPr>
        <p:spPr>
          <a:xfrm>
            <a:off x="4062222" y="2249424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09853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Q1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41882" y="1709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Median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06499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Q3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Pagar bawah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01468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Pagar atas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30143" y="1965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Outlier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658493" y="3017520"/>
            <a:ext cx="5966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IQR</a:t>
            </a:r>
            <a:endParaRPr lang="en-US" sz="1100" dirty="0"/>
          </a:p>
        </p:txBody>
      </p:sp>
      <p:sp>
        <p:nvSpPr>
          <p:cNvPr id="18" name="formula-bg"/>
          <p:cNvSpPr/>
          <p:nvPr/>
        </p:nvSpPr>
        <p:spPr>
          <a:xfrm>
            <a:off x="4937760" y="1097280"/>
            <a:ext cx="374904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344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Q3 − Q1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Pagar bawah = Q1 − k·IQR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Pagar atas  = Q3 + k·IQR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1,5 → outlier;  k = 3 → ekstrem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Berbasis kuartil, tidak tertarik oleh outlier itu sendiri (beda dengan mean ± 3σ).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Tanpa asumsi normal; cocok untuk PM2.5 yang condong kanan.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Contoh Perhitungan: PM2.5, n = 12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Data terurut (µg/m³), indeks 0–11</a:t>
            </a:r>
            <a:endParaRPr lang="en-US" sz="1300" dirty="0"/>
          </a:p>
        </p:txBody>
      </p:sp>
      <p:sp>
        <p:nvSpPr>
          <p:cNvPr id="4" name="val-0"/>
          <p:cNvSpPr/>
          <p:nvPr/>
        </p:nvSpPr>
        <p:spPr>
          <a:xfrm>
            <a:off x="4572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0</a:t>
            </a:r>
            <a:endParaRPr lang="en-US" sz="1000" dirty="0"/>
          </a:p>
        </p:txBody>
      </p:sp>
      <p:sp>
        <p:nvSpPr>
          <p:cNvPr id="7" name="val-1"/>
          <p:cNvSpPr/>
          <p:nvPr/>
        </p:nvSpPr>
        <p:spPr>
          <a:xfrm>
            <a:off x="11430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val-2"/>
          <p:cNvSpPr/>
          <p:nvPr/>
        </p:nvSpPr>
        <p:spPr>
          <a:xfrm>
            <a:off x="18288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val-3"/>
          <p:cNvSpPr/>
          <p:nvPr/>
        </p:nvSpPr>
        <p:spPr>
          <a:xfrm>
            <a:off x="25146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val-4"/>
          <p:cNvSpPr/>
          <p:nvPr/>
        </p:nvSpPr>
        <p:spPr>
          <a:xfrm>
            <a:off x="32004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val-5"/>
          <p:cNvSpPr/>
          <p:nvPr/>
        </p:nvSpPr>
        <p:spPr>
          <a:xfrm>
            <a:off x="38862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val-6"/>
          <p:cNvSpPr/>
          <p:nvPr/>
        </p:nvSpPr>
        <p:spPr>
          <a:xfrm>
            <a:off x="45720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val-7"/>
          <p:cNvSpPr/>
          <p:nvPr/>
        </p:nvSpPr>
        <p:spPr>
          <a:xfrm>
            <a:off x="52578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7</a:t>
            </a:r>
            <a:endParaRPr lang="en-US" sz="1000" dirty="0"/>
          </a:p>
        </p:txBody>
      </p:sp>
      <p:sp>
        <p:nvSpPr>
          <p:cNvPr id="28" name="val-8"/>
          <p:cNvSpPr/>
          <p:nvPr/>
        </p:nvSpPr>
        <p:spPr>
          <a:xfrm>
            <a:off x="59436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8</a:t>
            </a:r>
            <a:endParaRPr lang="en-US" sz="1000" dirty="0"/>
          </a:p>
        </p:txBody>
      </p:sp>
      <p:sp>
        <p:nvSpPr>
          <p:cNvPr id="31" name="val-9"/>
          <p:cNvSpPr/>
          <p:nvPr/>
        </p:nvSpPr>
        <p:spPr>
          <a:xfrm>
            <a:off x="66294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9</a:t>
            </a:r>
            <a:endParaRPr lang="en-US" sz="1000" dirty="0"/>
          </a:p>
        </p:txBody>
      </p:sp>
      <p:sp>
        <p:nvSpPr>
          <p:cNvPr id="34" name="val-10"/>
          <p:cNvSpPr/>
          <p:nvPr/>
        </p:nvSpPr>
        <p:spPr>
          <a:xfrm>
            <a:off x="73152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29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10</a:t>
            </a:r>
            <a:endParaRPr lang="en-US" sz="1000" dirty="0"/>
          </a:p>
        </p:txBody>
      </p:sp>
      <p:sp>
        <p:nvSpPr>
          <p:cNvPr id="37" name="val-11"/>
          <p:cNvSpPr/>
          <p:nvPr/>
        </p:nvSpPr>
        <p:spPr>
          <a:xfrm>
            <a:off x="8001000" y="1371600"/>
            <a:ext cx="59436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0100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85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19019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11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2286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Posisi kuartil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2286000" y="2286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p · (n − 1), interpolasi linear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2596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Q1 (p = 0,25)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2286000" y="25968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2,75 → 21 + 0,75·(22 − 21) = 21,75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2907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Median (p = 0,5)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2286000" y="2907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5,5 → 23 + 0,5·(24 − 23) = 23,5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Q3 (p = 0,75)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228600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8,25 → 26 + 0,25·(27 − 26) = 26,25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3529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IQR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2286000" y="35295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26,25 − 21,75 = 4,5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Pagar bawah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2286000" y="3840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21,75 − 1,5·4,5 = 15,0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1513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Pagar atas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2286000" y="41513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26,25 + 1,5·4,5 = 33,0</a:t>
            </a:r>
            <a:endParaRPr lang="en-US" sz="1300" dirty="0"/>
          </a:p>
        </p:txBody>
      </p:sp>
      <p:sp>
        <p:nvSpPr>
          <p:cNvPr id="54" name="verdict"/>
          <p:cNvSpPr/>
          <p:nvPr/>
        </p:nvSpPr>
        <p:spPr>
          <a:xfrm>
            <a:off x="6675120" y="2331720"/>
            <a:ext cx="2011680" cy="1920240"/>
          </a:xfrm>
          <a:prstGeom prst="roundRect">
            <a:avLst>
              <a:gd name="adj" fmla="val 381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66560" y="2377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85 &gt; 33,0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→ diberi F_OUTLIER</a:t>
            </a:r>
            <a:endParaRPr lang="en-US" sz="22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Jendela Bergulir dan Kuartil</a:t>
            </a:r>
            <a:endParaRPr lang="en-US" sz="2800" dirty="0"/>
          </a:p>
        </p:txBody>
      </p:sp>
      <p:sp>
        <p:nvSpPr>
          <p:cNvPr id="3" name="code-win-bg"/>
          <p:cNvSpPr/>
          <p:nvPr/>
        </p:nvSpPr>
        <p:spPr>
          <a:xfrm>
            <a:off x="457200" y="105156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win"/>
          <p:cNvSpPr txBox="1"/>
          <p:nvPr/>
        </p:nvSpPr>
        <p:spPr>
          <a:xfrm>
            <a:off x="502920" y="1097280"/>
            <a:ext cx="530352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NPAR 4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CO2, PM2.5, T, RH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WIN  30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sampel x 2 mnt = 1 jam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 win[NPAR][WIN];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wHead[NPAR], wCnt[NPAR];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pushWin(int p, float v)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win[p][wHead[p]] = v;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wHead[p] = (wHead[p] + 1) % WIN;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(wCnt[p] &lt; WIN) wCnt[p]++;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s[] sudah terurut naik, n elemen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quantile(const float *s, int n, float q)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pos = q * (n - 1);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i = (int)pos;  float f = pos - i;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(i + 1 &lt; n) ? s[i] + f * (s[i+1] - s[i]) : s[i];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card-Ring buffer"/>
          <p:cNvSpPr/>
          <p:nvPr/>
        </p:nvSpPr>
        <p:spPr>
          <a:xfrm>
            <a:off x="6126480" y="1051560"/>
            <a:ext cx="25603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91072" y="11612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Ring buffer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50876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Indeks head berputar; data terlama tertimpa otomatis. RAM: 4 × 30 × 4 B = 480 B.</a:t>
            </a:r>
            <a:endParaRPr lang="en-US" sz="1200" dirty="0"/>
          </a:p>
        </p:txBody>
      </p:sp>
      <p:sp>
        <p:nvSpPr>
          <p:cNvPr id="8" name="card-Metode kuartil"/>
          <p:cNvSpPr/>
          <p:nvPr/>
        </p:nvSpPr>
        <p:spPr>
          <a:xfrm>
            <a:off x="6126480" y="288036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91072" y="299008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Metode kuartil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91072" y="3337560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Sama dengan default numpy.percentile, sehingga hasil edge bisa diverifikasi di Python.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Uji Outlier</a:t>
            </a:r>
            <a:endParaRPr lang="en-US" sz="2800" dirty="0"/>
          </a:p>
        </p:txBody>
      </p:sp>
      <p:sp>
        <p:nvSpPr>
          <p:cNvPr id="3" name="code-iqr-bg"/>
          <p:cNvSpPr/>
          <p:nvPr/>
        </p:nvSpPr>
        <p:spPr>
          <a:xfrm>
            <a:off x="457200" y="105156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iqr"/>
          <p:cNvSpPr txBox="1"/>
          <p:nvPr/>
        </p:nvSpPr>
        <p:spPr>
          <a:xfrm>
            <a:off x="502920" y="1097280"/>
            <a:ext cx="530352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float IQR_MIN[NPAR] = {10, 2, 0.2, 1};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isOutlier(int p, float v, float k = 1.5)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 = wCnt[p];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&lt; 10) return false;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cold start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s[WIN];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memcpy(s, win[p], n * sizeof(float));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1; i &lt; n; i++) {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insertion sort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key = s[i];  int j = i - 1;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(j &gt;= 0 &amp;&amp; s[j] &gt; key) { s[j+1] = s[j]; j--;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s[j+1] = key;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q1 = quantile(s, n, 0.25);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q3 = quantile(s, n, 0.75);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iqr = max(q3 - q1, IQR_MIN[p]);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(v &lt; q1 - k * iqr) || (v &gt; q3 + k * iqr);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Uji dulu, baru pushWin(), agar nilai baru tidak menilai dirinya sendiri.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Insertion sort cukup untuk n = 30 (≈ 450 perbandingan, &lt; 1 ms).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IQR_MIN mencegah IQR = 0 saat nilai konstan.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Desain Jendela dan Jebakan Umum</a:t>
            </a:r>
            <a:endParaRPr lang="en-US" sz="2800" dirty="0"/>
          </a:p>
        </p:txBody>
      </p:sp>
      <p:sp>
        <p:nvSpPr>
          <p:cNvPr id="3" name="card-Ukuran jendela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Ukuran jendela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5448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Kecil → sensitif dan banyak flag. Besar → lambat beradaptasi dan butuh RAM lebih.</a:t>
            </a:r>
            <a:endParaRPr lang="en-US" sz="1200" dirty="0"/>
          </a:p>
        </p:txBody>
      </p:sp>
      <p:sp>
        <p:nvSpPr>
          <p:cNvPr id="6" name="card-Data condong"/>
          <p:cNvSpPr/>
          <p:nvPr/>
        </p:nvSpPr>
        <p:spPr>
          <a:xfrm>
            <a:off x="324612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0712" y="1207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condong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55448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PM2.5 condong kanan. Pertimbangkan IQR pada log(x + 1) agar pagar atas tidak terlalu ketat.</a:t>
            </a:r>
            <a:endParaRPr lang="en-US" sz="1200" dirty="0"/>
          </a:p>
        </p:txBody>
      </p:sp>
      <p:sp>
        <p:nvSpPr>
          <p:cNvPr id="9" name="card-Peristiwa nyata"/>
          <p:cNvSpPr/>
          <p:nvPr/>
        </p:nvSpPr>
        <p:spPr>
          <a:xfrm>
            <a:off x="603504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070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Peristiwa nyata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55448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Asap pembakaran adalah lonjakan nyata yang berkelanjutan. Outlier hanya diberi flag, tidak dihapus.</a:t>
            </a:r>
            <a:endParaRPr lang="en-US" sz="1200" dirty="0"/>
          </a:p>
        </p:txBody>
      </p:sp>
      <p:sp>
        <p:nvSpPr>
          <p:cNvPr id="12" name="card-Apa yang masuk jendela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9443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Apa yang masuk jendela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918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Nilai F_RANGE/F_SENSOR jangan dimasukkan. Outlier tetap dimasukkan agar jendela ikut beradaptasi.</a:t>
            </a:r>
            <a:endParaRPr lang="en-US" sz="1200" dirty="0"/>
          </a:p>
        </p:txBody>
      </p:sp>
      <p:sp>
        <p:nvSpPr>
          <p:cNvPr id="15" name="card-Cold start"/>
          <p:cNvSpPr/>
          <p:nvPr/>
        </p:nvSpPr>
        <p:spPr>
          <a:xfrm>
            <a:off x="324612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29443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Cold start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32918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Setelah boot, jendela kosong. Tunda uji sampai minimal 10 sampel (20 menit).</a:t>
            </a:r>
            <a:endParaRPr lang="en-US" sz="1200" dirty="0"/>
          </a:p>
        </p:txBody>
      </p:sp>
      <p:sp>
        <p:nvSpPr>
          <p:cNvPr id="18" name="card-IQR nol"/>
          <p:cNvSpPr/>
          <p:nvPr/>
        </p:nvSpPr>
        <p:spPr>
          <a:xfrm>
            <a:off x="6035040" y="28346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294436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IQR nol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291840"/>
            <a:ext cx="2276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Nilai konstan atau sensor macet. Pakai IQR minimum setara resolusi sensor.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Penyimpanan Data di SPIFFS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Format record, kapasitas, dan rotasi file di flash internal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Memahami SPIFFS di ESP32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Peta flash 4 MB, skema partisi default core 1.0.6</a:t>
            </a:r>
            <a:endParaRPr lang="en-US" sz="1300" dirty="0"/>
          </a:p>
        </p:txBody>
      </p:sp>
      <p:sp>
        <p:nvSpPr>
          <p:cNvPr id="4" name="part-0"/>
          <p:cNvSpPr/>
          <p:nvPr/>
        </p:nvSpPr>
        <p:spPr>
          <a:xfrm>
            <a:off x="457200" y="1417320"/>
            <a:ext cx="274320" cy="5486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part-1"/>
          <p:cNvSpPr/>
          <p:nvPr/>
        </p:nvSpPr>
        <p:spPr>
          <a:xfrm>
            <a:off x="731520" y="1417320"/>
            <a:ext cx="283464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app0  1,25 MB</a:t>
            </a:r>
            <a:endParaRPr lang="en-US" sz="1200" dirty="0"/>
          </a:p>
        </p:txBody>
      </p:sp>
      <p:sp>
        <p:nvSpPr>
          <p:cNvPr id="7" name="part-2"/>
          <p:cNvSpPr/>
          <p:nvPr/>
        </p:nvSpPr>
        <p:spPr>
          <a:xfrm>
            <a:off x="3566160" y="1417320"/>
            <a:ext cx="283464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app1 (OTA)  1,25 MB</a:t>
            </a:r>
            <a:endParaRPr lang="en-US" sz="1200" dirty="0"/>
          </a:p>
        </p:txBody>
      </p:sp>
      <p:sp>
        <p:nvSpPr>
          <p:cNvPr id="9" name="part-3"/>
          <p:cNvSpPr/>
          <p:nvPr/>
        </p:nvSpPr>
        <p:spPr>
          <a:xfrm>
            <a:off x="6400800" y="1417320"/>
            <a:ext cx="228600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spiffs  ≈1,44 MB</a:t>
            </a:r>
            <a:endParaRPr lang="en-US" sz="1200" dirty="0"/>
          </a:p>
        </p:txBody>
      </p:sp>
      <p:sp>
        <p:nvSpPr>
          <p:cNvPr id="11" name="card-Sistem file datar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350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Sistem file datar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69748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Tidak ada folder sungguhan; '/' hanya bagian dari nama. Nama file maks 31 karakter.</a:t>
            </a:r>
            <a:endParaRPr lang="en-US" sz="1200" dirty="0"/>
          </a:p>
        </p:txBody>
      </p:sp>
      <p:sp>
        <p:nvSpPr>
          <p:cNvPr id="14" name="card-Wear leveling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235000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Wear leveling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269748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Bawaan SPIFFS, tetapi tetap hindari menulis file yang sama setiap detik.</a:t>
            </a:r>
            <a:endParaRPr lang="en-US" sz="1200" dirty="0"/>
          </a:p>
        </p:txBody>
      </p:sp>
      <p:sp>
        <p:nvSpPr>
          <p:cNvPr id="17" name="card-Performa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53872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Performa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8862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Melambat saat hampir penuh. Jaga pemakaian ≤ 75%.</a:t>
            </a:r>
            <a:endParaRPr lang="en-US" sz="1200" dirty="0"/>
          </a:p>
        </p:txBody>
      </p:sp>
      <p:sp>
        <p:nvSpPr>
          <p:cNvPr id="20" name="card-Daya putus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53872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Daya putus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8862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open-tulis-close singkat per record agar data yang hilang paling banyak satu baris.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Estimasi Kapasitas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45720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44 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per record CSV (epoch + 4 nilai + 4 flag)</a:t>
            </a:r>
            <a:endParaRPr lang="en-US" sz="1200" dirty="0"/>
          </a:p>
        </p:txBody>
      </p:sp>
      <p:sp>
        <p:nvSpPr>
          <p:cNvPr id="6" name="stat-1"/>
          <p:cNvSpPr/>
          <p:nvPr/>
        </p:nvSpPr>
        <p:spPr>
          <a:xfrm>
            <a:off x="324612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234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≈ 31 KB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per hari pada 1 record/2 menit (720 baris)</a:t>
            </a:r>
            <a:endParaRPr lang="en-US" sz="1200" dirty="0"/>
          </a:p>
        </p:txBody>
      </p:sp>
      <p:sp>
        <p:nvSpPr>
          <p:cNvPr id="9" name="stat-2"/>
          <p:cNvSpPr/>
          <p:nvPr/>
        </p:nvSpPr>
        <p:spPr>
          <a:xfrm>
            <a:off x="6035040" y="109728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2344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± 34 hari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data 2-menit dalam 75% partisi SPIFFS</a:t>
            </a:r>
            <a:endParaRPr lang="en-US" sz="1200" dirty="0"/>
          </a:p>
        </p:txBody>
      </p:sp>
      <p:sp>
        <p:nvSpPr>
          <p:cNvPr id="12" name="code-csv-bg"/>
          <p:cNvSpPr/>
          <p:nvPr/>
        </p:nvSpPr>
        <p:spPr>
          <a:xfrm>
            <a:off x="457200" y="3063240"/>
            <a:ext cx="475488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code-csv"/>
          <p:cNvSpPr txBox="1"/>
          <p:nvPr/>
        </p:nvSpPr>
        <p:spPr>
          <a:xfrm>
            <a:off x="502920" y="3108960"/>
            <a:ext cx="4663440" cy="1325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contoh satu baris 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1791012900,612,23.4,27.81,71.2,0,0,0,0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epoch,co2,pm25,temp,rh,fCO2,fPM,fT,fRH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063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Alternatif biner: </a:t>
            </a:r>
            <a:r>
              <a:rPr lang="en-US" sz="1200" dirty="0">
                <a:solidFill>
                  <a:schemeClr val="tx1"/>
                </a:solidFill>
              </a:rPr>
              <a:t>struct 16 byte (nilai diskalakan ke integer) memperpanjang retensi menjadi ± 3 bulan, dengan biaya file tidak bisa dibaca langsung.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Mount dan Tulis Record</a:t>
            </a:r>
            <a:endParaRPr lang="en-US" sz="2800" dirty="0"/>
          </a:p>
        </p:txBody>
      </p:sp>
      <p:sp>
        <p:nvSpPr>
          <p:cNvPr id="3" name="code-spiffs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spiffs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"SPIFFS.h"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initFS()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(!SPIFFS.begin(true))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true: format bila gagal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Serial.println("SPIFFS gagal mount");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appendRecord(const TimeIdx &amp;x, time_t 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const float v[4], const uint8_t fl[4])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path[24], line[80];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snprintf(path, sizeof(path), "/m%lu.csv",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(unsigned long)x.dayKey);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snprintf(line, sizeof(line),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"%ld,%.0f,%.1f,%.2f,%.1f,%u,%u,%u,%u\n",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(long)t, v[0], v[1], v[2], v[3],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fl[0], fl[1], fl[2], fl[3]);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f = SPIFFS.open(path, FILE_APPEND);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(!f) return false;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f.print(line);  f.close();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097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NaN tertulis 'nan', tetap terlihat saat analisis.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Rata-rata jam di file terpisah, mis. /h20261003.csv.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Pilih partisi yang memuat SPIFFS di menu Tools.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Rotasi File Terlama</a:t>
            </a:r>
            <a:endParaRPr lang="en-US" sz="2800" dirty="0"/>
          </a:p>
        </p:txBody>
      </p:sp>
      <p:sp>
        <p:nvSpPr>
          <p:cNvPr id="3" name="code-rotate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rotate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enforceQuota(float maxRatio = 0.75)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((float)SPIFFS.usedBytes()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/ SPIFFS.totalBytes() &gt; maxRatio)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root = SPIFFS.open("/");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oldest = "";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f = root.openNextFile();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(f)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n = f.name();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 1.0.6: "/m20261003.csv"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(n.startsWith("/m") &amp;&amp; (oldest == "" || n &lt; oldest))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oldest = 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 = root.openNextFile();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(oldest == "") break;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SPIFFS.remove(oldest);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card-Kenapa YYYYMMDD?"/>
          <p:cNvSpPr/>
          <p:nvPr/>
        </p:nvSpPr>
        <p:spPr>
          <a:xfrm>
            <a:off x="6355080" y="10515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19672" y="11612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Kenapa YYYYMMDD?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5087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Urutan alfabet = urutan waktu, jadi file terlama cukup dicari dengan perbandingan string.</a:t>
            </a:r>
            <a:endParaRPr lang="en-US" sz="1200" dirty="0"/>
          </a:p>
        </p:txBody>
      </p:sp>
      <p:sp>
        <p:nvSpPr>
          <p:cNvPr id="8" name="card-Beda versi core"/>
          <p:cNvSpPr/>
          <p:nvPr/>
        </p:nvSpPr>
        <p:spPr>
          <a:xfrm>
            <a:off x="6355080" y="28803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9900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Beda versi core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3375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Di core 2.x, File.name() tanpa '/' di depan. Sesuaikan bila migrasi.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Rata-rata per Jam dan 24 Jam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Agregasi berjenjang dengan aturan kelengkapan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Hierarki Agregasi</a:t>
            </a:r>
            <a:endParaRPr lang="en-US" sz="2800" dirty="0"/>
          </a:p>
        </p:txBody>
      </p:sp>
      <p:sp>
        <p:nvSpPr>
          <p:cNvPr id="3" name="lvl-0"/>
          <p:cNvSpPr/>
          <p:nvPr/>
        </p:nvSpPr>
        <p:spPr>
          <a:xfrm>
            <a:off x="457200" y="11430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sampel 2-menit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flag = 0 saja</a:t>
            </a:r>
            <a:endParaRPr lang="en-US" sz="1100" dirty="0"/>
          </a:p>
        </p:txBody>
      </p:sp>
      <p:sp>
        <p:nvSpPr>
          <p:cNvPr id="7" name="larrow-0"/>
          <p:cNvSpPr/>
          <p:nvPr/>
        </p:nvSpPr>
        <p:spPr>
          <a:xfrm rot="5400000">
            <a:off x="2377440" y="1828800"/>
            <a:ext cx="118872" cy="22860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lvl-1"/>
          <p:cNvSpPr/>
          <p:nvPr/>
        </p:nvSpPr>
        <p:spPr>
          <a:xfrm>
            <a:off x="2606040" y="11430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rata-rata jam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sah bila ≥ 23 sampel</a:t>
            </a:r>
            <a:endParaRPr lang="en-US" sz="1100" dirty="0"/>
          </a:p>
        </p:txBody>
      </p:sp>
      <p:sp>
        <p:nvSpPr>
          <p:cNvPr id="12" name="larrow-1"/>
          <p:cNvSpPr/>
          <p:nvPr/>
        </p:nvSpPr>
        <p:spPr>
          <a:xfrm rot="5400000">
            <a:off x="4526280" y="1828800"/>
            <a:ext cx="118872" cy="22860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lvl-2"/>
          <p:cNvSpPr/>
          <p:nvPr/>
        </p:nvSpPr>
        <p:spPr>
          <a:xfrm>
            <a:off x="4754880" y="11430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rata-rata jam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jendela 24 jam</a:t>
            </a:r>
            <a:endParaRPr lang="en-US" sz="1100" dirty="0"/>
          </a:p>
        </p:txBody>
      </p:sp>
      <p:sp>
        <p:nvSpPr>
          <p:cNvPr id="17" name="larrow-2"/>
          <p:cNvSpPr/>
          <p:nvPr/>
        </p:nvSpPr>
        <p:spPr>
          <a:xfrm rot="5400000">
            <a:off x="6675120" y="1828800"/>
            <a:ext cx="118872" cy="22860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lvl-3"/>
          <p:cNvSpPr/>
          <p:nvPr/>
        </p:nvSpPr>
        <p:spPr>
          <a:xfrm>
            <a:off x="6903720" y="11430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rata-rata 24 jam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sah bila ≥ 18 jam</a:t>
            </a:r>
            <a:endParaRPr lang="en-US" sz="1100" dirty="0"/>
          </a:p>
        </p:txBody>
      </p:sp>
      <p:sp>
        <p:nvSpPr>
          <p:cNvPr id="22" name="card-Aturan kelengkapan 75%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12724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Aturan kelengkapan 75%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47472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Praktik umum pengolahan data kualitas udara: rata-rata hanya sah bila minimal 75% data penyusunnya valid. Bila tidak, hasilnya NaN.</a:t>
            </a:r>
            <a:endParaRPr lang="en-US" sz="1200" dirty="0"/>
          </a:p>
        </p:txBody>
      </p:sp>
      <p:sp>
        <p:nvSpPr>
          <p:cNvPr id="25" name="card-Harian vs bergerak 24 jam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127248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Harian vs bergerak 24 jam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347472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Harian kalender: 00:00–23:59. Bergerak: 24 jam terakhir, diperbarui tiap jam (relevan untuk rerata 24 jam PM2.5 pada indeks seperti ISPU).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Ilustrasi: Data 2-Menit vs Rata-rata Jam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852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92240" y="1188720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Lonjakan 92 µg/m³ pukul 14:22 diberi F_OUTLIER, tidak dirata-rata.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Stempel jam awal: 14:00 = data 14:00–14:59.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Sepakati konvensi stempel dengan backend.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Akumulator Rata-rata per Jam</a:t>
            </a:r>
            <a:endParaRPr lang="en-US" sz="2800" dirty="0"/>
          </a:p>
        </p:txBody>
      </p:sp>
      <p:sp>
        <p:nvSpPr>
          <p:cNvPr id="3" name="code-acc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acc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Acc { float sum = 0; uint16_t n = 0;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accH[NPAR];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addSample(const float v[NPAR], const uint8_t fl[NPAR])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NPAR; i++)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(fl[i] == 0) { accH[i].sum += v[i]; accH[i].n++;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finalizeHour(float out[NPAR])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uint8_t mask = 0;       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bit i = param i sah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NPAR;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(accH[i].n &gt;= 23) {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&gt;= 75% dari 30 sampel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out[i] = accH[i].sum / accH[i].n;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mask |= (1 &lt;&lt; i);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out[i] = NAN;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accH[i] = Acc();      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reset untuk jam baru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mask;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card-Tanpa menyimpan 30 nilai"/>
          <p:cNvSpPr/>
          <p:nvPr/>
        </p:nvSpPr>
        <p:spPr>
          <a:xfrm>
            <a:off x="6355080" y="10515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19672" y="11612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Tanpa menyimpan 30 nilai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5087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Cukup jumlah dan cacah, sehingga RAM konstan berapa pun lama periodenya.</a:t>
            </a:r>
            <a:endParaRPr lang="en-US" sz="1200" dirty="0"/>
          </a:p>
        </p:txBody>
      </p:sp>
      <p:sp>
        <p:nvSpPr>
          <p:cNvPr id="8" name="card-Per parameter"/>
          <p:cNvSpPr/>
          <p:nvPr/>
        </p:nvSpPr>
        <p:spPr>
          <a:xfrm>
            <a:off x="6355080" y="2880360"/>
            <a:ext cx="23317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990088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 parameter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3337560"/>
            <a:ext cx="20025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Tiap parameter punya kelengkapan sendiri. CO₂ bisa sah walau PM2.5 tidak.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Kode: Rata-rata Bergerak 24 Jam</a:t>
            </a:r>
            <a:endParaRPr lang="en-US" sz="2800" dirty="0"/>
          </a:p>
        </p:txBody>
      </p:sp>
      <p:sp>
        <p:nvSpPr>
          <p:cNvPr id="3" name="code-24h-bg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24h"/>
          <p:cNvSpPr txBox="1"/>
          <p:nvPr/>
        </p:nvSpPr>
        <p:spPr>
          <a:xfrm>
            <a:off x="502920" y="1097280"/>
            <a:ext cx="557784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 hAvg[NPAR][24];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slot = jam 0..23 dari RTC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hMask[24];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bit i = param i sah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  hStamp[24];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epoch awal jam tsb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storeHour(uint8_t hour, time_t start,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const float out[NPAR], uint8_t mask)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NPAR; i++) hAvg[i][hour] = out[i];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hMask[hour] = mask;  hStamp[hour] = start;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avg24(int p, time_t now)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s = 0;  int n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h = 0; h &lt; 24; h++)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fresh = (now - hStamp[h]) &lt; 24 * 3600;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(fresh &amp;&amp; (hMask[h] &amp; (1 &lt;&lt; p))) { s += hAvg[p][h]; n++;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(n &gt;= 18) ? s / n : NAN;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&gt;= 75% dari 24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097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x.hour dari RTC langsung menjadi alamat slot (topik 02).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hStamp mencegah slot basi kemarin ikut terhitung.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Rerata harian kalender = avg24() saat jam 23 ditutup.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Merangkai Semuanya di loop()</a:t>
            </a:r>
            <a:endParaRPr lang="en-US" sz="2800" dirty="0"/>
          </a:p>
        </p:txBody>
      </p:sp>
      <p:sp>
        <p:nvSpPr>
          <p:cNvPr id="3" name="code-loop-bg"/>
          <p:cNvSpPr/>
          <p:nvPr/>
        </p:nvSpPr>
        <p:spPr>
          <a:xfrm>
            <a:off x="457200" y="105156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loop"/>
          <p:cNvSpPr txBox="1"/>
          <p:nvPr/>
        </p:nvSpPr>
        <p:spPr>
          <a:xfrm>
            <a:off x="502920" y="1097280"/>
            <a:ext cx="813816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long lastSlot = -1;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time_t now = time(nullptr);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(now / INTERVAL == lastSlot) return;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INTERVAL = 120 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lastSlot = now / INTERVAL;         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tiap menit genap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TimeIdx x = makeIdx(now);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v[NPAR];  uint8_t fl[NPAR];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readSensors(v, fl);                           </a:t>
            </a: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fl[i] = F_SENSOR bila gagal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Spec *sp[NPAR] = {&amp;SPEC_CO2, &amp;SPEC_PM25, &amp;SPEC_TEMP, &amp;SPEC_RH};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NPAR;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(!timeValid())                fl[i] |= F_NOTIME;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(!(fl[i] &amp; F_SENSOR))         fl[i] |= checkRange(v[i], *sp[i]);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(!(fl[i] &amp; (F_SENSOR|F_RANGE)))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(isOutlier(i, v[i])) fl[i] |= F_OUTLIER;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pushWin(i, v[i]);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(x.hour != curHour) { hourRollover(x, now); curHour = x.hour;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addSample(v, fl);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appendRecord(x, now, v, fl);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Ringkasan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097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Data sah ditentukan di sumber: rentang → waktu → outlier → simpan → agregasi, semuanya tanpa membuang nilai mentah.</a:t>
            </a:r>
            <a:endParaRPr lang="en-US" sz="1600" dirty="0"/>
          </a:p>
        </p:txBody>
      </p:sp>
      <p:sp>
        <p:nvSpPr>
          <p:cNvPr id="5" name="next"/>
          <p:cNvSpPr/>
          <p:nvPr/>
        </p:nvSpPr>
        <p:spPr>
          <a:xfrm>
            <a:off x="5394960" y="38862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3212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Pertemuan berikutnya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Akuisisi dan transmisi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dara Edge">
  <a:themeElements>
    <a:clrScheme name="Udara Edge">
      <a:dk1>
        <a:srgbClr val="13282A"/>
      </a:dk1>
      <a:lt1>
        <a:srgbClr val="FFFFFF"/>
      </a:lt1>
      <a:dk2>
        <a:srgbClr val="0D5B57"/>
      </a:dk2>
      <a:lt2>
        <a:srgbClr val="EDF5F4"/>
      </a:lt2>
      <a:accent1>
        <a:srgbClr val="0E8C86"/>
      </a:accent1>
      <a:accent2>
        <a:srgbClr val="F2A541"/>
      </a:accent2>
      <a:accent3>
        <a:srgbClr val="D1495B"/>
      </a:accent3>
      <a:accent4>
        <a:srgbClr val="3A6EA5"/>
      </a:accent4>
      <a:accent5>
        <a:srgbClr val="6FAE5A"/>
      </a:accent5>
      <a:accent6>
        <a:srgbClr val="7A8C8B"/>
      </a:accent6>
      <a:hlink>
        <a:srgbClr val="0E8C86"/>
      </a:hlink>
      <a:folHlink>
        <a:srgbClr val="0D5B57"/>
      </a:folHlink>
    </a:clrScheme>
    <a:fontScheme name="Udara Ed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4128</Words>
  <Application>Microsoft Office PowerPoint</Application>
  <PresentationFormat>On-screen Show (16:9)</PresentationFormat>
  <Paragraphs>637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Udara Edge</vt:lpstr>
      <vt:lpstr>Edge Computing pada ESP32</vt:lpstr>
      <vt:lpstr>Capaian Pembelajaran</vt:lpstr>
      <vt:lpstr>Mengapa Komputasi di Edge?</vt:lpstr>
      <vt:lpstr>Batasan Platform Praktikum</vt:lpstr>
      <vt:lpstr>Sensor dan Rentang Ukurnya</vt:lpstr>
      <vt:lpstr>Alur Pengolahan di Edge</vt:lpstr>
      <vt:lpstr>Validasi Rentang Ukur</vt:lpstr>
      <vt:lpstr>Kapan Nilai Sensor Tidak Sah?</vt:lpstr>
      <vt:lpstr>Flag Kualitas sebagai Bitmask</vt:lpstr>
      <vt:lpstr>Kode: Validasi Rentang</vt:lpstr>
      <vt:lpstr>Waktu Internal sebagai Indeks</vt:lpstr>
      <vt:lpstr>Jam Internal ESP32</vt:lpstr>
      <vt:lpstr>Kode: Sinkronisasi NTP</vt:lpstr>
      <vt:lpstr>Dari Epoch ke Indeks Hari–Jam–Menit</vt:lpstr>
      <vt:lpstr>Pola Pemakaian Indeks Waktu</vt:lpstr>
      <vt:lpstr>Deteksi Outlier dengan Boxplot</vt:lpstr>
      <vt:lpstr>Boxplot dan Pagar Tukey</vt:lpstr>
      <vt:lpstr>Contoh Perhitungan: PM2.5, n = 12</vt:lpstr>
      <vt:lpstr>Kode: Jendela Bergulir dan Kuartil</vt:lpstr>
      <vt:lpstr>Kode: Uji Outlier</vt:lpstr>
      <vt:lpstr>Desain Jendela dan Jebakan Umum</vt:lpstr>
      <vt:lpstr>Penyimpanan Data di SPIFFS</vt:lpstr>
      <vt:lpstr>Memahami SPIFFS di ESP32</vt:lpstr>
      <vt:lpstr>Estimasi Kapasitas</vt:lpstr>
      <vt:lpstr>Kode: Mount dan Tulis Record</vt:lpstr>
      <vt:lpstr>Kode: Rotasi File Terlama</vt:lpstr>
      <vt:lpstr>Rata-rata per Jam dan 24 Jam</vt:lpstr>
      <vt:lpstr>Hierarki Agregasi</vt:lpstr>
      <vt:lpstr>Ilustrasi: Data 2-Menit vs Rata-rata Jam</vt:lpstr>
      <vt:lpstr>Kode: Akumulator Rata-rata per Jam</vt:lpstr>
      <vt:lpstr>Kode: Rata-rata Bergerak 24 Jam</vt:lpstr>
      <vt:lpstr>Merangkai Semuanya di loop()</vt:lpstr>
      <vt:lpstr>Ringkasan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 pada ESP32</dc:title>
  <dc:subject>PptxGenJS Presentation</dc:subject>
  <dc:creator>Raihan Azwar Ibrahim Pulungan</dc:creator>
  <cp:lastModifiedBy>Eka Sugiarto</cp:lastModifiedBy>
  <cp:revision>4</cp:revision>
  <dcterms:created xsi:type="dcterms:W3CDTF">2026-10-03T04:13:14Z</dcterms:created>
  <dcterms:modified xsi:type="dcterms:W3CDTF">2026-10-03T05:28:13Z</dcterms:modified>
</cp:coreProperties>
</file>