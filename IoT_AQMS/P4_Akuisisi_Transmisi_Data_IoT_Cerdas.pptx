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5" r:id="rId4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embuka" id="{1FF75574-4D26-0DBA-F58E-0A8598BB3718}">
          <p14:sldIdLst>
            <p14:sldId id="256"/>
            <p14:sldId id="257"/>
            <p14:sldId id="258"/>
          </p14:sldIdLst>
        </p14:section>
        <p14:section name="Dasar Akuisisi Data Sensor" id="{19D4984E-F96F-C53E-6807-E3C5596E2322}">
          <p14:sldIdLst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Transmisi ke Platform IoT" id="{B59BA5E1-E51C-ABD8-D479-E700B36E74F2}">
          <p14:sldIdLst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WiFi pada ESP32" id="{A395039D-83DF-D9E7-8566-8B8FE3571CAA}">
          <p14:sldIdLst>
            <p14:sldId id="272"/>
            <p14:sldId id="273"/>
            <p14:sldId id="274"/>
            <p14:sldId id="275"/>
          </p14:sldIdLst>
        </p14:section>
        <p14:section name="Sinkron Waktu via Server Sendiri" id="{61B6E169-77DD-D075-4EB3-84E55514308E}">
          <p14:sldIdLst>
            <p14:sldId id="276"/>
            <p14:sldId id="277"/>
            <p14:sldId id="278"/>
            <p14:sldId id="279"/>
            <p14:sldId id="280"/>
            <p14:sldId id="281"/>
            <p14:sldId id="282"/>
          </p14:sldIdLst>
        </p14:section>
        <p14:section name="Membangun Sistem IoT Utuh" id="{3D44C4DD-11DD-9C85-DC93-ECC345A4BA9B}">
          <p14:sldIdLst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</p14:sldIdLst>
        </p14:section>
        <p14:section name="Penutup" id="{1F61A099-90DE-A9A5-6367-E0D430023911}">
          <p14:sldIdLst>
            <p14:sldId id="29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3518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Tujuan slide ini bukan menghafal byte, tetapi menunjukkan bahwa setiap protokol punya mekanisme pengecekan keutuhan data: checksum di MH-Z19B dan PMS5003, CRC-8 (polinom 0x31, nilai awal 0xFF) di SHT31. Bila cek gagal, data dibuang dan status sensor ditandai gagal.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Kode negatif berasal dari library HTTPClient, bukan dari server. Contoh: -1 koneksi gagal (DNS, TLS, atau internet), -11 batas waktu membaca respons habis.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String(nilai, n) mengatur jumlah desimal. Konvensi status "1" = sensor OK dan "0" = gagal hanya contoh; sesuaikan dengan konvensi yang dipakai server. initSensors() tempat Serial1/Serial2.begin dan Wire.begin untuk sensor.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371600"/>
            <a:ext cx="80467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2697480"/>
            <a:ext cx="80467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800" dirty="0">
                <a:solidFill>
                  <a:schemeClr val="accent2"/>
                </a:solidFill>
              </a:defRPr>
            </a:lvl1pPr>
          </a:lstStyle>
          <a:p>
            <a:pPr marL="0" indent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1097280"/>
            <a:ext cx="27432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72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>
              <a:buNone/>
            </a:pPr>
            <a:endParaRPr lang="en-US" sz="7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237744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3200400"/>
            <a:ext cx="74980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marL="0" indent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IoT Cerdas  ·  Akuisisi dan Transmisi Data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37160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Akuisisi dan Transmisi Data</a:t>
            </a: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2697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2"/>
                </a:solidFill>
              </a:rPr>
              <a:t>Dari sensor kualitas udara ke server lewat WiFi ESP32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9319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Mata Kuliah IoT Cerdas  ·  Program Magister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Indra Chandra - Eka Sugiarto</a:t>
            </a:r>
            <a:endParaRPr lang="en-US" sz="1300" dirty="0"/>
          </a:p>
        </p:txBody>
      </p:sp>
      <p:sp>
        <p:nvSpPr>
          <p:cNvPr id="5" name="chip-UART"/>
          <p:cNvSpPr/>
          <p:nvPr/>
        </p:nvSpPr>
        <p:spPr>
          <a:xfrm>
            <a:off x="6400800" y="39319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0" y="3931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UART</a:t>
            </a:r>
            <a:endParaRPr lang="en-US" sz="1600" dirty="0"/>
          </a:p>
        </p:txBody>
      </p:sp>
      <p:sp>
        <p:nvSpPr>
          <p:cNvPr id="7" name="chip-I²C"/>
          <p:cNvSpPr/>
          <p:nvPr/>
        </p:nvSpPr>
        <p:spPr>
          <a:xfrm>
            <a:off x="7178040" y="39319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78040" y="3931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I²C</a:t>
            </a:r>
            <a:endParaRPr lang="en-US" sz="1600" dirty="0"/>
          </a:p>
        </p:txBody>
      </p:sp>
      <p:sp>
        <p:nvSpPr>
          <p:cNvPr id="9" name="chip-WiFi"/>
          <p:cNvSpPr/>
          <p:nvPr/>
        </p:nvSpPr>
        <p:spPr>
          <a:xfrm>
            <a:off x="7955280" y="393192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955280" y="3931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WiFi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Capaian Pembelajaran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Setelah sesi ini, mahasiswa mampu:</a:t>
            </a:r>
            <a:endParaRPr lang="en-US" sz="1400" dirty="0"/>
          </a:p>
        </p:txBody>
      </p:sp>
      <p:sp>
        <p:nvSpPr>
          <p:cNvPr id="4" name="chip-1"/>
          <p:cNvSpPr/>
          <p:nvPr/>
        </p:nvSpPr>
        <p:spPr>
          <a:xfrm>
            <a:off x="457200" y="1536192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536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4630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Rantai akuisisi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76479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Menjelaskan alur dari besaran fisik hingga data digital dan memilih antarmuka sensor.</a:t>
            </a:r>
            <a:endParaRPr lang="en-US" sz="1200" dirty="0"/>
          </a:p>
        </p:txBody>
      </p:sp>
      <p:sp>
        <p:nvSpPr>
          <p:cNvPr id="8" name="chip-2"/>
          <p:cNvSpPr/>
          <p:nvPr/>
        </p:nvSpPr>
        <p:spPr>
          <a:xfrm>
            <a:off x="457200" y="2587752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587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251460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Protokol sensor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81635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Memahami frame UART MH-Z19B dan PMS5003 serta transaksi I²C SHT31, termasuk checksum/CRC.</a:t>
            </a:r>
            <a:endParaRPr lang="en-US" sz="1200" dirty="0"/>
          </a:p>
        </p:txBody>
      </p:sp>
      <p:sp>
        <p:nvSpPr>
          <p:cNvPr id="12" name="chip-3"/>
          <p:cNvSpPr/>
          <p:nvPr/>
        </p:nvSpPr>
        <p:spPr>
          <a:xfrm>
            <a:off x="457200" y="3639312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639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56616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Transmisi IoT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86791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Membandingkan konektivitas dan protokol, lalu menyusun HTTPS POST berformat JSON.</a:t>
            </a:r>
            <a:endParaRPr lang="en-US" sz="1200" dirty="0"/>
          </a:p>
        </p:txBody>
      </p:sp>
      <p:sp>
        <p:nvSpPr>
          <p:cNvPr id="16" name="chip-4"/>
          <p:cNvSpPr/>
          <p:nvPr/>
        </p:nvSpPr>
        <p:spPr>
          <a:xfrm>
            <a:off x="4663440" y="1536192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63440" y="1536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303520" y="14630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Sinkron waktu mandiri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303520" y="176479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Menyetel RTC ESP32 dari server sendiri tanpa bergantung pada NTP.</a:t>
            </a:r>
            <a:endParaRPr lang="en-US" sz="1200" dirty="0"/>
          </a:p>
        </p:txBody>
      </p:sp>
      <p:sp>
        <p:nvSpPr>
          <p:cNvPr id="20" name="chip-5"/>
          <p:cNvSpPr/>
          <p:nvPr/>
        </p:nvSpPr>
        <p:spPr>
          <a:xfrm>
            <a:off x="4663440" y="2587752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663440" y="2587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303520" y="251460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Sistem utuh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303520" y="281635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Membangun firmware yang membaca sensor tiap 2 menit dan mengirim data mentah ke server.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Posisi Materi Hari Ini</a:t>
            </a:r>
            <a:endParaRPr lang="en-US" sz="2800" dirty="0"/>
          </a:p>
        </p:txBody>
      </p:sp>
      <p:sp>
        <p:nvSpPr>
          <p:cNvPr id="3" name="meet-0"/>
          <p:cNvSpPr/>
          <p:nvPr/>
        </p:nvSpPr>
        <p:spPr>
          <a:xfrm>
            <a:off x="457200" y="1188720"/>
            <a:ext cx="251460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258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Pertemuan 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459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Edge computing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4884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Validasi, indeks waktu, outlier, SPIFFS, agregasi</a:t>
            </a:r>
            <a:endParaRPr lang="en-US" sz="1200" dirty="0"/>
          </a:p>
        </p:txBody>
      </p:sp>
      <p:sp>
        <p:nvSpPr>
          <p:cNvPr id="7" name="marrow-0"/>
          <p:cNvSpPr/>
          <p:nvPr/>
        </p:nvSpPr>
        <p:spPr>
          <a:xfrm rot="5400000">
            <a:off x="3063240" y="2011680"/>
            <a:ext cx="118872" cy="201168"/>
          </a:xfrm>
          <a:prstGeom prst="triangl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meet-1"/>
          <p:cNvSpPr/>
          <p:nvPr/>
        </p:nvSpPr>
        <p:spPr>
          <a:xfrm>
            <a:off x="3291840" y="1188720"/>
            <a:ext cx="2514600" cy="1828800"/>
          </a:xfrm>
          <a:prstGeom prst="roundRect">
            <a:avLst>
              <a:gd name="adj" fmla="val 4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74720" y="13258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Pertemuan 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16459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Akuisisi &amp; transmisi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214884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Sensor → ESP32 → WiFi → server</a:t>
            </a:r>
            <a:endParaRPr lang="en-US" sz="1200" dirty="0"/>
          </a:p>
        </p:txBody>
      </p:sp>
      <p:sp>
        <p:nvSpPr>
          <p:cNvPr id="12" name="marrow-1"/>
          <p:cNvSpPr/>
          <p:nvPr/>
        </p:nvSpPr>
        <p:spPr>
          <a:xfrm rot="5400000">
            <a:off x="5897880" y="2011680"/>
            <a:ext cx="118872" cy="201168"/>
          </a:xfrm>
          <a:prstGeom prst="triangl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3" name="meet-2"/>
          <p:cNvSpPr/>
          <p:nvPr/>
        </p:nvSpPr>
        <p:spPr>
          <a:xfrm>
            <a:off x="6126480" y="1188720"/>
            <a:ext cx="251460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09360" y="13258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Pertemuan 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16459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Backend–frontend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309360" y="214884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Menerima, menyimpan, dan menampilkan data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3832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Fokus hari ini: </a:t>
            </a:r>
            <a:r>
              <a:rPr lang="en-US" sz="1400" dirty="0">
                <a:solidFill>
                  <a:schemeClr val="tx1"/>
                </a:solidFill>
              </a:rPr>
              <a:t>jalur data mentah dari sensor sampai diterima server. Logika edge dari pertemuan 1 nantinya disisipkan di tengah jalur ini, tepat sebelum data dikirim.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109728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72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23774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Dasar Akuisisi Data Sensor</a:t>
            </a:r>
            <a:endParaRPr lang="en-US" sz="34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320040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Dari besaran fisik menjadi angka yang bisa diolah ESP32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Rantai Akuisisi Data</a:t>
            </a:r>
            <a:endParaRPr lang="en-US" sz="2800" dirty="0"/>
          </a:p>
        </p:txBody>
      </p:sp>
      <p:sp>
        <p:nvSpPr>
          <p:cNvPr id="3" name="chain-0"/>
          <p:cNvSpPr/>
          <p:nvPr/>
        </p:nvSpPr>
        <p:spPr>
          <a:xfrm>
            <a:off x="457200" y="1280160"/>
            <a:ext cx="1252728" cy="1325880"/>
          </a:xfrm>
          <a:prstGeom prst="roundRect">
            <a:avLst>
              <a:gd name="adj" fmla="val 583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12064" y="1325880"/>
            <a:ext cx="1143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Besaran fisik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CO₂, partikel, panas, uap air</a:t>
            </a:r>
            <a:endParaRPr lang="en-US" sz="1300" dirty="0"/>
          </a:p>
        </p:txBody>
      </p:sp>
      <p:sp>
        <p:nvSpPr>
          <p:cNvPr id="5" name="carrow-0"/>
          <p:cNvSpPr/>
          <p:nvPr/>
        </p:nvSpPr>
        <p:spPr>
          <a:xfrm rot="5400000">
            <a:off x="1723644" y="1847088"/>
            <a:ext cx="118872" cy="201168"/>
          </a:xfrm>
          <a:prstGeom prst="triangl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6" name="chain-1"/>
          <p:cNvSpPr/>
          <p:nvPr/>
        </p:nvSpPr>
        <p:spPr>
          <a:xfrm>
            <a:off x="1856232" y="1280160"/>
            <a:ext cx="1252728" cy="1325880"/>
          </a:xfrm>
          <a:prstGeom prst="roundRect">
            <a:avLst>
              <a:gd name="adj" fmla="val 5839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911096" y="1325880"/>
            <a:ext cx="1143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Transduser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NDIR, hamburan laser, kapasitif</a:t>
            </a:r>
            <a:endParaRPr lang="en-US" sz="1300" dirty="0"/>
          </a:p>
        </p:txBody>
      </p:sp>
      <p:sp>
        <p:nvSpPr>
          <p:cNvPr id="8" name="carrow-1"/>
          <p:cNvSpPr/>
          <p:nvPr/>
        </p:nvSpPr>
        <p:spPr>
          <a:xfrm rot="5400000">
            <a:off x="3122676" y="1847088"/>
            <a:ext cx="118872" cy="201168"/>
          </a:xfrm>
          <a:prstGeom prst="triangl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chain-2"/>
          <p:cNvSpPr/>
          <p:nvPr/>
        </p:nvSpPr>
        <p:spPr>
          <a:xfrm>
            <a:off x="3255264" y="1280160"/>
            <a:ext cx="1252728" cy="1325880"/>
          </a:xfrm>
          <a:prstGeom prst="roundRect">
            <a:avLst>
              <a:gd name="adj" fmla="val 5839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10128" y="1325880"/>
            <a:ext cx="1143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Pengkondisian + ADC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di dalam modul sensor</a:t>
            </a:r>
            <a:endParaRPr lang="en-US" sz="1300" dirty="0"/>
          </a:p>
        </p:txBody>
      </p:sp>
      <p:sp>
        <p:nvSpPr>
          <p:cNvPr id="11" name="carrow-2"/>
          <p:cNvSpPr/>
          <p:nvPr/>
        </p:nvSpPr>
        <p:spPr>
          <a:xfrm rot="5400000">
            <a:off x="4521708" y="1847088"/>
            <a:ext cx="118872" cy="201168"/>
          </a:xfrm>
          <a:prstGeom prst="triangl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2" name="chain-3"/>
          <p:cNvSpPr/>
          <p:nvPr/>
        </p:nvSpPr>
        <p:spPr>
          <a:xfrm>
            <a:off x="4654296" y="1280160"/>
            <a:ext cx="1252728" cy="1325880"/>
          </a:xfrm>
          <a:prstGeom prst="roundRect">
            <a:avLst>
              <a:gd name="adj" fmla="val 583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09160" y="1325880"/>
            <a:ext cx="1143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Antarmuka digital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UART / I²C</a:t>
            </a:r>
            <a:endParaRPr lang="en-US" sz="1300" dirty="0"/>
          </a:p>
        </p:txBody>
      </p:sp>
      <p:sp>
        <p:nvSpPr>
          <p:cNvPr id="14" name="carrow-3"/>
          <p:cNvSpPr/>
          <p:nvPr/>
        </p:nvSpPr>
        <p:spPr>
          <a:xfrm rot="5400000">
            <a:off x="5920740" y="1847088"/>
            <a:ext cx="118872" cy="201168"/>
          </a:xfrm>
          <a:prstGeom prst="triangl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5" name="chain-4"/>
          <p:cNvSpPr/>
          <p:nvPr/>
        </p:nvSpPr>
        <p:spPr>
          <a:xfrm>
            <a:off x="6053328" y="1280160"/>
            <a:ext cx="1252728" cy="1325880"/>
          </a:xfrm>
          <a:prstGeom prst="roundRect">
            <a:avLst>
              <a:gd name="adj" fmla="val 583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08192" y="1325880"/>
            <a:ext cx="1143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Mikrokontroler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ESP32</a:t>
            </a:r>
            <a:endParaRPr lang="en-US" sz="1300" dirty="0"/>
          </a:p>
        </p:txBody>
      </p:sp>
      <p:sp>
        <p:nvSpPr>
          <p:cNvPr id="17" name="carrow-4"/>
          <p:cNvSpPr/>
          <p:nvPr/>
        </p:nvSpPr>
        <p:spPr>
          <a:xfrm rot="5400000">
            <a:off x="7319772" y="1847088"/>
            <a:ext cx="118872" cy="201168"/>
          </a:xfrm>
          <a:prstGeom prst="triangl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8" name="chain-5"/>
          <p:cNvSpPr/>
          <p:nvPr/>
        </p:nvSpPr>
        <p:spPr>
          <a:xfrm>
            <a:off x="7452360" y="1280160"/>
            <a:ext cx="1252728" cy="1325880"/>
          </a:xfrm>
          <a:prstGeom prst="roundRect">
            <a:avLst>
              <a:gd name="adj" fmla="val 583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507224" y="1325880"/>
            <a:ext cx="1143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Data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nilai + waktu + status</a:t>
            </a:r>
            <a:endParaRPr lang="en-US" sz="1300" dirty="0"/>
          </a:p>
        </p:txBody>
      </p:sp>
      <p:sp>
        <p:nvSpPr>
          <p:cNvPr id="20" name="modul-tag"/>
          <p:cNvSpPr/>
          <p:nvPr/>
        </p:nvSpPr>
        <p:spPr>
          <a:xfrm>
            <a:off x="1856232" y="2743200"/>
            <a:ext cx="2651760" cy="365760"/>
          </a:xfrm>
          <a:prstGeom prst="roundRect">
            <a:avLst>
              <a:gd name="adj" fmla="val 15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856232" y="2743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Sudah ditangani pabrikan modul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33832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Modul sensor modern sudah digital: </a:t>
            </a:r>
            <a:r>
              <a:rPr lang="en-US" sz="1400" dirty="0">
                <a:solidFill>
                  <a:schemeClr val="tx1"/>
                </a:solidFill>
              </a:rPr>
              <a:t>ESP32 menerima angka jadi, bukan tegangan mentah. Tugas kita ada di tiga hal: memahami protokol, memastikan data utuh (checksum/CRC), dan memberi cap waktu serta status.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Antarmuka Sensor yang Umum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426208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Antarmuka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Jalur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Topologi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Kecepatan tipikal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Contoh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Analog (ADC)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 sinyal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 sensor per pin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ADC 12-bit ESP32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Sensor gas MQ-x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UART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TX, RX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Titik ke titik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9600–115200 bps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MH-Z19B, PMS5003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I²C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SDA, SCL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Bus, alamat 7-bit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100–400 kHz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SHT31 (0x44)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SPI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MOSI, MISO, SCK, CS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Bus, CS per perangkat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Orde MHz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Kartu SD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adc-note"/>
          <p:cNvSpPr/>
          <p:nvPr/>
        </p:nvSpPr>
        <p:spPr>
          <a:xfrm>
            <a:off x="457200" y="3703320"/>
            <a:ext cx="822960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hip-!"/>
          <p:cNvSpPr/>
          <p:nvPr/>
        </p:nvSpPr>
        <p:spPr>
          <a:xfrm>
            <a:off x="594360" y="384048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4360" y="3840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!</a:t>
            </a:r>
            <a:endParaRPr lang="en-US" sz="1200" dirty="0"/>
          </a:p>
        </p:txBody>
      </p:sp>
      <p:sp>
        <p:nvSpPr>
          <p:cNvPr id="3" name="Text 4"/>
          <p:cNvSpPr txBox="1"/>
          <p:nvPr/>
        </p:nvSpPr>
        <p:spPr>
          <a:xfrm>
            <a:off x="1143000" y="3730752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ADC ESP32 tidak linear di ujung rentang dan sensitif derau WiFi. Untuk data kualitas udara, sensor beroutput digital (UART/I²C) jauh lebih andal.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Protokol Tiga Sensor Praktikum</a:t>
            </a:r>
            <a:endParaRPr lang="en-US" sz="2800" dirty="0"/>
          </a:p>
        </p:txBody>
      </p:sp>
      <p:sp>
        <p:nvSpPr>
          <p:cNvPr id="3" name="proto-0"/>
          <p:cNvSpPr/>
          <p:nvPr/>
        </p:nvSpPr>
        <p:spPr>
          <a:xfrm>
            <a:off x="457200" y="1051560"/>
            <a:ext cx="2606040" cy="352044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1612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MH-Z19B · UART 9600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21792" y="14356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CO₂ (NDIR)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18105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Kirim 9 byte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203911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FF 01 86 00 00 00 00 00 79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248716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Terima 9 byte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271576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FF 86 HH LL … CS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21792" y="316382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Nilai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21792" y="339242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CO₂ = HH × 256 + LL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" y="38404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Catatan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" y="40690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Pemanasan awal ±3 menit</a:t>
            </a:r>
            <a:endParaRPr lang="en-US" sz="1100" dirty="0"/>
          </a:p>
        </p:txBody>
      </p:sp>
      <p:sp>
        <p:nvSpPr>
          <p:cNvPr id="14" name="proto-1"/>
          <p:cNvSpPr/>
          <p:nvPr/>
        </p:nvSpPr>
        <p:spPr>
          <a:xfrm>
            <a:off x="3246120" y="1051560"/>
            <a:ext cx="2606040" cy="352044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410712" y="11612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PMS5003 · UART 9600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410712" y="14356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PM2.5 (hamburan laser)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410712" y="18105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Frame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410712" y="203911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 byte, diawali 42 4D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3410712" y="248716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Mode aktif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3410712" y="271576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dikirim otomatis ±1 detik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3410712" y="316382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Nilai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3410712" y="339242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PM2.5 atmosferik = byte 12–13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3410712" y="38404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Cek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3410712" y="40690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jumlah byte 0–29 = byte 30–31</a:t>
            </a:r>
            <a:endParaRPr lang="en-US" sz="1100" dirty="0"/>
          </a:p>
        </p:txBody>
      </p:sp>
      <p:sp>
        <p:nvSpPr>
          <p:cNvPr id="25" name="proto-2"/>
          <p:cNvSpPr/>
          <p:nvPr/>
        </p:nvSpPr>
        <p:spPr>
          <a:xfrm>
            <a:off x="6035040" y="1051560"/>
            <a:ext cx="2606040" cy="352044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199632" y="11612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SHT31 · I²C 0x44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199632" y="14356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Suhu &amp; kelembapan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6199632" y="18105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Perintah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199632" y="203911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0x2400 (single shot)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199632" y="248716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Baca 6 byte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6199632" y="271576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T(2) CRC  RH(2) CRC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199632" y="316382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Suhu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199632" y="339242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−45 + 175·raw/65535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199632" y="38404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Kelembapan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6199632" y="40690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100·raw/65535</a:t>
            </a:r>
            <a:endParaRPr lang="en-US" sz="11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Contoh Pengkabelan ke ESP32</a:t>
            </a:r>
            <a:endParaRPr lang="en-US" sz="2800" dirty="0"/>
          </a:p>
        </p:txBody>
      </p:sp>
      <p:sp>
        <p:nvSpPr>
          <p:cNvPr id="3" name="esp32"/>
          <p:cNvSpPr/>
          <p:nvPr/>
        </p:nvSpPr>
        <p:spPr>
          <a:xfrm>
            <a:off x="3474720" y="1188720"/>
            <a:ext cx="2194560" cy="3017520"/>
          </a:xfrm>
          <a:prstGeom prst="roundRect">
            <a:avLst>
              <a:gd name="adj" fmla="val 416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0" y="12801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ESP32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3657600" y="1783080"/>
            <a:ext cx="1828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GPIO26  RX1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GPIO27  TX1</a:t>
            </a:r>
            <a:endParaRPr lang="en-US" sz="1200" dirty="0"/>
          </a:p>
          <a:p>
            <a:pPr marL="0" indent="0">
              <a:buNone/>
            </a:pPr>
            <a:r>
              <a:rPr lang="en-US" sz="6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GPIO16  RX2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GPIO17  TX2</a:t>
            </a:r>
            <a:endParaRPr lang="en-US" sz="1200" dirty="0"/>
          </a:p>
          <a:p>
            <a:pPr marL="0" indent="0">
              <a:buNone/>
            </a:pPr>
            <a:r>
              <a:rPr lang="en-US" sz="6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GPIO21  SDA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GPIO22  SCL</a:t>
            </a:r>
            <a:endParaRPr lang="en-US" sz="1200" dirty="0"/>
          </a:p>
        </p:txBody>
      </p:sp>
      <p:sp>
        <p:nvSpPr>
          <p:cNvPr id="6" name="sens-0"/>
          <p:cNvSpPr/>
          <p:nvPr/>
        </p:nvSpPr>
        <p:spPr>
          <a:xfrm>
            <a:off x="457200" y="1188720"/>
            <a:ext cx="21031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2344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MH-Z19B</a:t>
            </a:r>
            <a:endParaRPr lang="en-US" sz="1400" dirty="0"/>
          </a:p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5 V · TX→GPIO26, RX←GPIO27</a:t>
            </a:r>
            <a:endParaRPr lang="en-US" sz="1400" dirty="0"/>
          </a:p>
        </p:txBody>
      </p:sp>
      <p:sp>
        <p:nvSpPr>
          <p:cNvPr id="8" name="wire-0"/>
          <p:cNvSpPr/>
          <p:nvPr/>
        </p:nvSpPr>
        <p:spPr>
          <a:xfrm>
            <a:off x="2560320" y="1645920"/>
            <a:ext cx="91440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9" name="sens-1"/>
          <p:cNvSpPr/>
          <p:nvPr/>
        </p:nvSpPr>
        <p:spPr>
          <a:xfrm>
            <a:off x="457200" y="2834640"/>
            <a:ext cx="21031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88036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PMS5003</a:t>
            </a:r>
            <a:endParaRPr lang="en-US" sz="1400" dirty="0"/>
          </a:p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5 V · TX→GPIO16, RX←GPIO17</a:t>
            </a:r>
            <a:endParaRPr lang="en-US" sz="1400" dirty="0"/>
          </a:p>
        </p:txBody>
      </p:sp>
      <p:sp>
        <p:nvSpPr>
          <p:cNvPr id="11" name="wire-1"/>
          <p:cNvSpPr/>
          <p:nvPr/>
        </p:nvSpPr>
        <p:spPr>
          <a:xfrm>
            <a:off x="2560320" y="3291840"/>
            <a:ext cx="91440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12" name="sens-2"/>
          <p:cNvSpPr/>
          <p:nvPr/>
        </p:nvSpPr>
        <p:spPr>
          <a:xfrm>
            <a:off x="6583680" y="1188720"/>
            <a:ext cx="21031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675120" y="12344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SHT31</a:t>
            </a:r>
            <a:endParaRPr lang="en-US" sz="1400" dirty="0"/>
          </a:p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3,3 V · SDA, SCL (alamat 0x44)</a:t>
            </a:r>
            <a:endParaRPr lang="en-US" sz="1400" dirty="0"/>
          </a:p>
        </p:txBody>
      </p:sp>
      <p:sp>
        <p:nvSpPr>
          <p:cNvPr id="14" name="wire-2"/>
          <p:cNvSpPr/>
          <p:nvPr/>
        </p:nvSpPr>
        <p:spPr>
          <a:xfrm>
            <a:off x="5669280" y="1645920"/>
            <a:ext cx="91440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15" name="power-note"/>
          <p:cNvSpPr/>
          <p:nvPr/>
        </p:nvSpPr>
        <p:spPr>
          <a:xfrm>
            <a:off x="6583680" y="2834640"/>
            <a:ext cx="2103120" cy="1371600"/>
          </a:xfrm>
          <a:prstGeom prst="roundRect">
            <a:avLst>
              <a:gd name="adj" fmla="val 5333"/>
            </a:avLst>
          </a:prstGeom>
          <a:solidFill>
            <a:srgbClr val="FCEBD0"/>
          </a:solidFill>
          <a:ln w="12700">
            <a:solidFill>
              <a:srgbClr val="FCEBD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20840" y="29260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Semua GND disatukan. Serial1 bawaan memakai pin flash, jadi wajib dipetakan ulang.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343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Pin hanya contoh; sesuaikan dengan papan Anda.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Pertimbangan Saat Mengambil Data</a:t>
            </a:r>
            <a:endParaRPr lang="en-US" sz="2800" dirty="0"/>
          </a:p>
        </p:txBody>
      </p:sp>
      <p:sp>
        <p:nvSpPr>
          <p:cNvPr id="3" name="card-Periode baca vs interval kirim"/>
          <p:cNvSpPr/>
          <p:nvPr/>
        </p:nvSpPr>
        <p:spPr>
          <a:xfrm>
            <a:off x="457200" y="109728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207008"/>
            <a:ext cx="3694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Periode baca vs interval kirim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21792" y="1554480"/>
            <a:ext cx="3694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Sensor bisa dibaca tiap detik, tetapi data dikirim per slot 2 menit. Isi slot boleh nilai sesaat atau rata-rata (pertemuan 1).</a:t>
            </a:r>
            <a:endParaRPr lang="en-US" sz="1300" dirty="0"/>
          </a:p>
        </p:txBody>
      </p:sp>
      <p:sp>
        <p:nvSpPr>
          <p:cNvPr id="6" name="card-Waktu pemanasan"/>
          <p:cNvSpPr/>
          <p:nvPr/>
        </p:nvSpPr>
        <p:spPr>
          <a:xfrm>
            <a:off x="4663440" y="109728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28032" y="1207008"/>
            <a:ext cx="3694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Waktu pemanasan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828032" y="1554480"/>
            <a:ext cx="3694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MH-Z19B butuh ±3 menit, PMS5003 ±30 detik setelah kipas menyala. Data awal setelah boot diabaikan.</a:t>
            </a:r>
            <a:endParaRPr lang="en-US" sz="1300" dirty="0"/>
          </a:p>
        </p:txBody>
      </p:sp>
      <p:sp>
        <p:nvSpPr>
          <p:cNvPr id="9" name="card-Status sensor"/>
          <p:cNvSpPr/>
          <p:nvPr/>
        </p:nvSpPr>
        <p:spPr>
          <a:xfrm>
            <a:off x="457200" y="283464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" y="2944368"/>
            <a:ext cx="3694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Status sensor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21792" y="3291840"/>
            <a:ext cx="3694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Bila timeout atau checksum gagal, kirim status gagal dan nilai NaN, bukan angka 0 palsu.</a:t>
            </a:r>
            <a:endParaRPr lang="en-US" sz="1300" dirty="0"/>
          </a:p>
        </p:txBody>
      </p:sp>
      <p:sp>
        <p:nvSpPr>
          <p:cNvPr id="12" name="card-Satuan dan desimal"/>
          <p:cNvSpPr/>
          <p:nvPr/>
        </p:nvSpPr>
        <p:spPr>
          <a:xfrm>
            <a:off x="4663440" y="283464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28032" y="2944368"/>
            <a:ext cx="3694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Satuan dan desimal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828032" y="3291840"/>
            <a:ext cx="3694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ppm, µg/m³, °C, %RH. Jumlah desimal mengikuti resolusi sensor, bukan sebanyak-banyaknya.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Variabel Data: Titik Temu dengan Kode Sensor</a:t>
            </a:r>
            <a:endParaRPr lang="en-US" sz="2800" dirty="0"/>
          </a:p>
        </p:txBody>
      </p:sp>
      <p:sp>
        <p:nvSpPr>
          <p:cNvPr id="3" name="code-vars-bg"/>
          <p:cNvSpPr/>
          <p:nvPr/>
        </p:nvSpPr>
        <p:spPr>
          <a:xfrm>
            <a:off x="457200" y="1051560"/>
            <a:ext cx="5669280" cy="3520440"/>
          </a:xfrm>
          <a:prstGeom prst="roundRect">
            <a:avLst>
              <a:gd name="adj" fmla="val 207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code-vars"/>
          <p:cNvSpPr txBox="1"/>
          <p:nvPr/>
        </p:nvSpPr>
        <p:spPr>
          <a:xfrm>
            <a:off x="502920" y="1097280"/>
            <a:ext cx="5577840" cy="34290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---- Diisi oleh kode sensor Anda ----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 CO2v     = NAN;   </a:t>
            </a:r>
            <a:r>
              <a:rPr lang="en-US" sz="105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ppm    (MH-Z19B)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 PM25v    = NAN;   </a:t>
            </a:r>
            <a:r>
              <a:rPr lang="en-US" sz="105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ug/m3  (PMS5003)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 Tempinv  = NAN;   </a:t>
            </a:r>
            <a:r>
              <a:rPr lang="en-US" sz="105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degC   (SHT31)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 Humidinv = NAN;   </a:t>
            </a:r>
            <a:r>
              <a:rPr lang="en-US" sz="105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%RH    (SHT31)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readSensors()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TODO: baca MH-Z19B -&gt; CO2v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TODO: baca PMS5003 -&gt; PM25v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TODO: baca SHT31   -&gt; Tempinv, Humidinv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---- Paket data untuk satu slot 2 menit ----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RawData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String created_at, uptime, RSSI;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String SD_status, PM25_status, SHT_status;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String CO2v, PM25v, Tempinv, Humidinv;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RawData raw_2m;</a:t>
            </a:r>
            <a:endParaRPr lang="en-US" sz="1050" dirty="0"/>
          </a:p>
        </p:txBody>
      </p:sp>
      <p:sp>
        <p:nvSpPr>
          <p:cNvPr id="5" name="card-Kenapa NAN?"/>
          <p:cNvSpPr/>
          <p:nvPr/>
        </p:nvSpPr>
        <p:spPr>
          <a:xfrm>
            <a:off x="6355080" y="1051560"/>
            <a:ext cx="233172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19672" y="1161288"/>
            <a:ext cx="2002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Kenapa NAN?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519672" y="1508760"/>
            <a:ext cx="20025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Menandai gagal atau belum terbaca. Mudah dicek dengan isnan() dan tidak tertukar dengan nilai 0 yang sah.</a:t>
            </a:r>
            <a:endParaRPr lang="en-US" sz="1200" dirty="0"/>
          </a:p>
        </p:txBody>
      </p:sp>
      <p:sp>
        <p:nvSpPr>
          <p:cNvPr id="8" name="card-Kenapa String?"/>
          <p:cNvSpPr/>
          <p:nvPr/>
        </p:nvSpPr>
        <p:spPr>
          <a:xfrm>
            <a:off x="6355080" y="2880360"/>
            <a:ext cx="233172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19672" y="2990088"/>
            <a:ext cx="2002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Kenapa String?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19672" y="3337560"/>
            <a:ext cx="20025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Server menerima nilai sebagai teks. Konversi angka ke teks dilakukan sekali di fillRaw().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109728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72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23774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Transmisi ke Platform IoT</a:t>
            </a:r>
            <a:endParaRPr lang="en-US" sz="34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320040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Konektivitas, protokol aplikasi, dan format pesan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Arsitektur Umum Sistem IoT</a:t>
            </a:r>
            <a:endParaRPr lang="en-US" sz="2800" dirty="0"/>
          </a:p>
        </p:txBody>
      </p:sp>
      <p:sp>
        <p:nvSpPr>
          <p:cNvPr id="3" name="arch-0"/>
          <p:cNvSpPr/>
          <p:nvPr/>
        </p:nvSpPr>
        <p:spPr>
          <a:xfrm>
            <a:off x="457200" y="1371600"/>
            <a:ext cx="1252728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1371600"/>
            <a:ext cx="11612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Perangkat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ESP32 + sensor</a:t>
            </a:r>
            <a:endParaRPr lang="en-US" sz="1300" dirty="0"/>
          </a:p>
        </p:txBody>
      </p:sp>
      <p:sp>
        <p:nvSpPr>
          <p:cNvPr id="5" name="aarrow-0"/>
          <p:cNvSpPr/>
          <p:nvPr/>
        </p:nvSpPr>
        <p:spPr>
          <a:xfrm rot="5400000">
            <a:off x="1723644" y="1819656"/>
            <a:ext cx="118872" cy="201168"/>
          </a:xfrm>
          <a:prstGeom prst="triangl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6" name="arch-1"/>
          <p:cNvSpPr/>
          <p:nvPr/>
        </p:nvSpPr>
        <p:spPr>
          <a:xfrm>
            <a:off x="1856232" y="1371600"/>
            <a:ext cx="1252728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901952" y="1371600"/>
            <a:ext cx="11612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Jaringan akses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router WiFi</a:t>
            </a:r>
            <a:endParaRPr lang="en-US" sz="1300" dirty="0"/>
          </a:p>
        </p:txBody>
      </p:sp>
      <p:sp>
        <p:nvSpPr>
          <p:cNvPr id="8" name="aarrow-1"/>
          <p:cNvSpPr/>
          <p:nvPr/>
        </p:nvSpPr>
        <p:spPr>
          <a:xfrm rot="5400000">
            <a:off x="3122676" y="1819656"/>
            <a:ext cx="118872" cy="201168"/>
          </a:xfrm>
          <a:prstGeom prst="triangl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arch-2"/>
          <p:cNvSpPr/>
          <p:nvPr/>
        </p:nvSpPr>
        <p:spPr>
          <a:xfrm>
            <a:off x="3255264" y="1371600"/>
            <a:ext cx="1252728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00984" y="1371600"/>
            <a:ext cx="11612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Internet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ISP</a:t>
            </a:r>
            <a:endParaRPr lang="en-US" sz="1300" dirty="0"/>
          </a:p>
        </p:txBody>
      </p:sp>
      <p:sp>
        <p:nvSpPr>
          <p:cNvPr id="11" name="aarrow-2"/>
          <p:cNvSpPr/>
          <p:nvPr/>
        </p:nvSpPr>
        <p:spPr>
          <a:xfrm rot="5400000">
            <a:off x="4521708" y="1819656"/>
            <a:ext cx="118872" cy="201168"/>
          </a:xfrm>
          <a:prstGeom prst="triangl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2" name="arch-3"/>
          <p:cNvSpPr/>
          <p:nvPr/>
        </p:nvSpPr>
        <p:spPr>
          <a:xfrm>
            <a:off x="4654296" y="1371600"/>
            <a:ext cx="1252728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00016" y="1371600"/>
            <a:ext cx="11612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Server API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HTTPS</a:t>
            </a:r>
            <a:endParaRPr lang="en-US" sz="1300" dirty="0"/>
          </a:p>
        </p:txBody>
      </p:sp>
      <p:sp>
        <p:nvSpPr>
          <p:cNvPr id="14" name="aarrow-3"/>
          <p:cNvSpPr/>
          <p:nvPr/>
        </p:nvSpPr>
        <p:spPr>
          <a:xfrm rot="5400000">
            <a:off x="5920740" y="1819656"/>
            <a:ext cx="118872" cy="201168"/>
          </a:xfrm>
          <a:prstGeom prst="triangl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5" name="arch-4"/>
          <p:cNvSpPr/>
          <p:nvPr/>
        </p:nvSpPr>
        <p:spPr>
          <a:xfrm>
            <a:off x="6053328" y="1371600"/>
            <a:ext cx="1252728" cy="109728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6099048" y="1371600"/>
            <a:ext cx="11612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Basis data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penyimpanan</a:t>
            </a:r>
            <a:endParaRPr lang="en-US" sz="1300" dirty="0"/>
          </a:p>
        </p:txBody>
      </p:sp>
      <p:sp>
        <p:nvSpPr>
          <p:cNvPr id="17" name="aarrow-4"/>
          <p:cNvSpPr/>
          <p:nvPr/>
        </p:nvSpPr>
        <p:spPr>
          <a:xfrm rot="5400000">
            <a:off x="7319772" y="1819656"/>
            <a:ext cx="118872" cy="201168"/>
          </a:xfrm>
          <a:prstGeom prst="triangl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8" name="arch-5"/>
          <p:cNvSpPr/>
          <p:nvPr/>
        </p:nvSpPr>
        <p:spPr>
          <a:xfrm>
            <a:off x="7452360" y="1371600"/>
            <a:ext cx="1252728" cy="109728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dash"/>
          </a:ln>
        </p:spPr>
      </p:sp>
      <p:sp>
        <p:nvSpPr>
          <p:cNvPr id="19" name="Text 17"/>
          <p:cNvSpPr txBox="1"/>
          <p:nvPr/>
        </p:nvSpPr>
        <p:spPr>
          <a:xfrm>
            <a:off x="7498080" y="1371600"/>
            <a:ext cx="11612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Dashboard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visualisasi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1005840"/>
            <a:ext cx="5449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1"/>
                </a:solidFill>
              </a:rPr>
              <a:t>Hari ini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053328" y="10058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6"/>
                </a:solidFill>
              </a:rPr>
              <a:t>Pertemuan 3</a:t>
            </a:r>
            <a:endParaRPr lang="en-US" sz="1200" dirty="0"/>
          </a:p>
        </p:txBody>
      </p:sp>
      <p:sp>
        <p:nvSpPr>
          <p:cNvPr id="22" name="card-Server RnD BiruLangit"/>
          <p:cNvSpPr/>
          <p:nvPr/>
        </p:nvSpPr>
        <p:spPr>
          <a:xfrm>
            <a:off x="457200" y="2788920"/>
            <a:ext cx="402336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1792" y="2898648"/>
            <a:ext cx="3694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Server RnD BiruLangit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21792" y="3246120"/>
            <a:ext cx="36941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rndbirulangit.pythonanywhere.com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Menerima data mentah lengkap beserta diagnosis perangkat (RSSI, uptime, status sensor).</a:t>
            </a:r>
            <a:endParaRPr lang="en-US" sz="1200" dirty="0"/>
          </a:p>
        </p:txBody>
      </p:sp>
      <p:sp>
        <p:nvSpPr>
          <p:cNvPr id="25" name="card-Satu server, dua endpoint"/>
          <p:cNvSpPr/>
          <p:nvPr/>
        </p:nvSpPr>
        <p:spPr>
          <a:xfrm>
            <a:off x="4663440" y="2788920"/>
            <a:ext cx="402336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828032" y="2898648"/>
            <a:ext cx="3694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Satu server, dua endpoint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828032" y="3246120"/>
            <a:ext cx="36941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/api/post/telkom_group untuk menerima data, /api/get-time untuk sinkron waktu perangkat.</a:t>
            </a:r>
            <a:endParaRPr lang="en-US" sz="12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Pilihan Konektivitas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37744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Teknologi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Jangkauan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Laju data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Konsumsi daya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Infrastruktur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WiFi 2,4 GHz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± 50 m dalam ruang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Mbps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Tinggi saat kirim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Router lokal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LTE-M / NB-IoT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Jaringan seluler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puluhan–ratusan kbps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Rendah–sedang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Operator + SIM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LoRaWAN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2–15 km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0,3–50 kbps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Sangat rendah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Gateway LoRa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BLE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± 10 m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± 1 Mbps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Sangat rendah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Gateway / ponsel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657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Praktikum memakai WiFi: </a:t>
            </a:r>
            <a:r>
              <a:rPr lang="en-US" sz="1300" dirty="0">
                <a:solidFill>
                  <a:schemeClr val="tx1"/>
                </a:solidFill>
              </a:rPr>
              <a:t>sudah terpasang di ESP32 tanpa modul tambahan, laju data lebih dari cukup, dan perangkat AQMS umumnya dipasok listrik PLN sehingga konsumsi daya bukan kendala utama.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Protokol Aplikasi: HTTP vs MQTT</a:t>
            </a:r>
            <a:endParaRPr lang="en-US" sz="2800" dirty="0"/>
          </a:p>
        </p:txBody>
      </p:sp>
      <p:sp>
        <p:nvSpPr>
          <p:cNvPr id="3" name="card-HTTP(S) REST"/>
          <p:cNvSpPr/>
          <p:nvPr/>
        </p:nvSpPr>
        <p:spPr>
          <a:xfrm>
            <a:off x="457200" y="1097280"/>
            <a:ext cx="4023360" cy="3383280"/>
          </a:xfrm>
          <a:prstGeom prst="roundRect">
            <a:avLst>
              <a:gd name="adj" fmla="val 21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207008"/>
            <a:ext cx="3694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HTTP(S) REST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21792" y="1554480"/>
            <a:ext cx="3694176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554480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chemeClr val="tx1"/>
                </a:solidFill>
              </a:rPr>
              <a:t>Pola request–response: satu pengiriman = satu request.</a:t>
            </a:r>
            <a:endParaRPr lang="en-US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chemeClr val="tx1"/>
                </a:solidFill>
              </a:rPr>
              <a:t>Mudah diuji dengan Postman atau curl.</a:t>
            </a:r>
            <a:endParaRPr lang="en-US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chemeClr val="tx1"/>
                </a:solidFill>
              </a:rPr>
              <a:t>Cocok dengan API web yang sudah ada.</a:t>
            </a:r>
            <a:endParaRPr lang="en-US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chemeClr val="tx1"/>
                </a:solidFill>
              </a:rPr>
              <a:t>Header relatif besar; server tidak bisa memulai pesan ke perangkat.</a:t>
            </a:r>
            <a:endParaRPr lang="en-US" dirty="0"/>
          </a:p>
        </p:txBody>
      </p:sp>
      <p:sp>
        <p:nvSpPr>
          <p:cNvPr id="7" name="badge"/>
          <p:cNvSpPr/>
          <p:nvPr/>
        </p:nvSpPr>
        <p:spPr>
          <a:xfrm>
            <a:off x="2926080" y="1170432"/>
            <a:ext cx="1417320" cy="310896"/>
          </a:xfrm>
          <a:prstGeom prst="roundRect">
            <a:avLst>
              <a:gd name="adj" fmla="val 1764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26080" y="117043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</a:rPr>
              <a:t>Dipakai hari ini</a:t>
            </a:r>
            <a:endParaRPr lang="en-US" sz="1000" dirty="0"/>
          </a:p>
        </p:txBody>
      </p:sp>
      <p:sp>
        <p:nvSpPr>
          <p:cNvPr id="9" name="card-MQTT"/>
          <p:cNvSpPr/>
          <p:nvPr/>
        </p:nvSpPr>
        <p:spPr>
          <a:xfrm>
            <a:off x="4663440" y="1097280"/>
            <a:ext cx="4023360" cy="3383280"/>
          </a:xfrm>
          <a:prstGeom prst="roundRect">
            <a:avLst>
              <a:gd name="adj" fmla="val 21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28032" y="1207008"/>
            <a:ext cx="3694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MQTT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828032" y="1554480"/>
            <a:ext cx="3694176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1554480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chemeClr val="tx1"/>
                </a:solidFill>
              </a:rPr>
              <a:t>Pola publish–subscribe melalui broker.</a:t>
            </a:r>
            <a:endParaRPr lang="en-US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chemeClr val="tx1"/>
                </a:solidFill>
              </a:rPr>
              <a:t>Koneksi persisten, header kecil, QoS 0/1/2.</a:t>
            </a:r>
            <a:endParaRPr lang="en-US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chemeClr val="tx1"/>
                </a:solidFill>
              </a:rPr>
              <a:t>Dua arah: server bisa mengirim perintah ke perangkat.</a:t>
            </a:r>
            <a:endParaRPr lang="en-US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chemeClr val="tx1"/>
                </a:solidFill>
              </a:rPr>
              <a:t>Perlu broker dan pengelolaan topik.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Anatomi HTTPS POST</a:t>
            </a:r>
            <a:endParaRPr lang="en-US" sz="2800" dirty="0"/>
          </a:p>
        </p:txBody>
      </p:sp>
      <p:sp>
        <p:nvSpPr>
          <p:cNvPr id="3" name="code-http-bg"/>
          <p:cNvSpPr/>
          <p:nvPr/>
        </p:nvSpPr>
        <p:spPr>
          <a:xfrm>
            <a:off x="457200" y="1051560"/>
            <a:ext cx="4754880" cy="2103120"/>
          </a:xfrm>
          <a:prstGeom prst="roundRect">
            <a:avLst>
              <a:gd name="adj" fmla="val 347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code-http"/>
          <p:cNvSpPr txBox="1"/>
          <p:nvPr/>
        </p:nvSpPr>
        <p:spPr>
          <a:xfrm>
            <a:off x="502920" y="1097280"/>
            <a:ext cx="4663440" cy="20116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/api/post/telkom_group HTTP/1.1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Host: rndbirulangit.pythonanywhere.com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User-Agent: TMM_JKT-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Content-Type: application/json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{"device_1":"TMM_JKT-","CO2v_1":"612",…}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29184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chemeClr val="tx1"/>
                </a:solidFill>
              </a:rPr>
              <a:t>Baris 1: metode dan path tujuan</a:t>
            </a:r>
            <a:endParaRPr lang="en-US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chemeClr val="tx1"/>
                </a:solidFill>
              </a:rPr>
              <a:t>Header: identitas perangkat dan jenis isi</a:t>
            </a:r>
            <a:endParaRPr lang="en-US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chemeClr val="tx1"/>
                </a:solidFill>
              </a:rPr>
              <a:t>Baris kosong, lalu body JSON</a:t>
            </a:r>
            <a:endParaRPr lang="en-US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1051560"/>
          <a:ext cx="3200400" cy="3072384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Kode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Arti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200 / 201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Berhasil diterima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Format payload salah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401 / 403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Tidak berwenang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404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URL endpoint salah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5xx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Masalah di server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 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Gagal di sisi ESP32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Format Payload ke Server</a:t>
            </a:r>
            <a:endParaRPr lang="en-US" sz="2800" dirty="0"/>
          </a:p>
        </p:txBody>
      </p:sp>
      <p:sp>
        <p:nvSpPr>
          <p:cNvPr id="3" name="code-json1-bg"/>
          <p:cNvSpPr/>
          <p:nvPr/>
        </p:nvSpPr>
        <p:spPr>
          <a:xfrm>
            <a:off x="457200" y="1051560"/>
            <a:ext cx="4206240" cy="3520440"/>
          </a:xfrm>
          <a:prstGeom prst="roundRect">
            <a:avLst>
              <a:gd name="adj" fmla="val 207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code-json1"/>
          <p:cNvSpPr txBox="1"/>
          <p:nvPr/>
        </p:nvSpPr>
        <p:spPr>
          <a:xfrm>
            <a:off x="502920" y="1097280"/>
            <a:ext cx="4114800" cy="34290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"device_1":      "TMM_JKT-",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"RSSI_1":        "-61",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"created_at_1":  "2026-10-03 14:36:00",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"Uptime_1":      "02:14:07",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"SD_status_1":   "0",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"PM25_status_1": "1",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"SHT_status_1":  "1",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"CO2v_1":        "612",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"PM25v_1":       "23.4",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"Tempinv_1":     "27.81",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"Humidinv_1":    "71.20"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051560"/>
          <a:ext cx="3749040" cy="201168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Kelompok field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Isi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Identitas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device_1, created_at_1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Diagnosis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RSSI_1, Uptime_1, *_status_1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Pengukuran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CO2v_1, PM25v_1, Tempinv_1, Humidinv_1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937760" y="329184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Semua nilai dikirim sebagai string. Akhiran _1 adalah konvensi nama field di server RnD BiruLangit.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109728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72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23774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WiFi pada ESP32</a:t>
            </a:r>
            <a:endParaRPr lang="en-US" sz="34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320040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Menyambung, menjaga koneksi, dan mengamankan transmisi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Dasar WiFi ESP32</a:t>
            </a:r>
            <a:endParaRPr lang="en-US" sz="2800" dirty="0"/>
          </a:p>
        </p:txBody>
      </p:sp>
      <p:sp>
        <p:nvSpPr>
          <p:cNvPr id="3" name="card-Mode STA"/>
          <p:cNvSpPr/>
          <p:nvPr/>
        </p:nvSpPr>
        <p:spPr>
          <a:xfrm>
            <a:off x="457200" y="1097280"/>
            <a:ext cx="260604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207008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Mode STA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21792" y="1554480"/>
            <a:ext cx="22768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ESP32 menjadi klien router, seperti ponsel. Mode AP (menjadi hotspot) tidak dipakai di sini.</a:t>
            </a:r>
            <a:endParaRPr lang="en-US" sz="1200" dirty="0"/>
          </a:p>
        </p:txBody>
      </p:sp>
      <p:sp>
        <p:nvSpPr>
          <p:cNvPr id="6" name="card-Hanya 2,4 GHz"/>
          <p:cNvSpPr/>
          <p:nvPr/>
        </p:nvSpPr>
        <p:spPr>
          <a:xfrm>
            <a:off x="3268980" y="1097280"/>
            <a:ext cx="260604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33572" y="1207008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Hanya 2,4 GHz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433572" y="1554480"/>
            <a:ext cx="22768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ESP32 tidak bisa melihat SSID 5 GHz. Pastikan router memancarkan 2,4 GHz.</a:t>
            </a:r>
            <a:endParaRPr lang="en-US" sz="1200" dirty="0"/>
          </a:p>
        </p:txBody>
      </p:sp>
      <p:sp>
        <p:nvSpPr>
          <p:cNvPr id="9" name="card-RSSI ikut dikirim"/>
          <p:cNvSpPr/>
          <p:nvPr/>
        </p:nvSpPr>
        <p:spPr>
          <a:xfrm>
            <a:off x="6080760" y="1097280"/>
            <a:ext cx="260604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45352" y="1207008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RSSI ikut dikirim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245352" y="1554480"/>
            <a:ext cx="22768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Kekuatan sinyal (dBm) dikirim sebagai RSSI_1 untuk diagnosis perangkat di lapangan.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063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Membaca RSSI</a:t>
            </a:r>
            <a:endParaRPr lang="en-US" sz="1300" dirty="0"/>
          </a:p>
        </p:txBody>
      </p:sp>
      <p:sp>
        <p:nvSpPr>
          <p:cNvPr id="13" name="rssi-0"/>
          <p:cNvSpPr/>
          <p:nvPr/>
        </p:nvSpPr>
        <p:spPr>
          <a:xfrm>
            <a:off x="457200" y="3429000"/>
            <a:ext cx="2377440" cy="50292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4290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Buruk  ·  &lt; −80 dBm</a:t>
            </a:r>
            <a:endParaRPr lang="en-US" sz="1200" dirty="0"/>
          </a:p>
        </p:txBody>
      </p:sp>
      <p:sp>
        <p:nvSpPr>
          <p:cNvPr id="15" name="rssi-1"/>
          <p:cNvSpPr/>
          <p:nvPr/>
        </p:nvSpPr>
        <p:spPr>
          <a:xfrm>
            <a:off x="2834640" y="3429000"/>
            <a:ext cx="2560320" cy="50292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834640" y="34290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Cukup  ·  −80 s/d −67 dBm</a:t>
            </a:r>
            <a:endParaRPr lang="en-US" sz="1200" dirty="0"/>
          </a:p>
        </p:txBody>
      </p:sp>
      <p:sp>
        <p:nvSpPr>
          <p:cNvPr id="17" name="rssi-2"/>
          <p:cNvSpPr/>
          <p:nvPr/>
        </p:nvSpPr>
        <p:spPr>
          <a:xfrm>
            <a:off x="5394960" y="3429000"/>
            <a:ext cx="3291840" cy="50292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394960" y="34290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Baik  ·  ≥ −67 dBm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023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6"/>
                </a:solidFill>
              </a:rPr>
              <a:t>Lemah ← → Kuat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Kode: Menyambung WiFi</a:t>
            </a:r>
            <a:endParaRPr lang="en-US" sz="2800" dirty="0"/>
          </a:p>
        </p:txBody>
      </p:sp>
      <p:sp>
        <p:nvSpPr>
          <p:cNvPr id="3" name="code-wifi-bg"/>
          <p:cNvSpPr/>
          <p:nvPr/>
        </p:nvSpPr>
        <p:spPr>
          <a:xfrm>
            <a:off x="457200" y="1051560"/>
            <a:ext cx="5669280" cy="3520440"/>
          </a:xfrm>
          <a:prstGeom prst="roundRect">
            <a:avLst>
              <a:gd name="adj" fmla="val 207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code-wifi"/>
          <p:cNvSpPr txBox="1"/>
          <p:nvPr/>
        </p:nvSpPr>
        <p:spPr>
          <a:xfrm>
            <a:off x="502920" y="1097280"/>
            <a:ext cx="5577840" cy="34290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connectWiFi()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(WiFi.status() == WL_CONNECTED) return;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Serial.print("[WiFi] Menyambung ke " + ssid);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WiFi.mode(WIFI_STA);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WiFi.begin(ssid.c_str(), pass.c_str());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unsigned long t0 = millis();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while (WiFi.status() != WL_CONNECTED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&amp;&amp; millis() - t0 &lt; 15000) {     </a:t>
            </a:r>
            <a:r>
              <a:rPr lang="en-US" sz="105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batas 15 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delay(500);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Serial.print(".");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(WiFi.status() == WL_CONNECTED)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Serial.println(" OK, IP " + WiFi.localIP().toString());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else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Serial.println(" GAGAL");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355080" y="1097280"/>
            <a:ext cx="2331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chemeClr val="tx1"/>
                </a:solidFill>
              </a:rPr>
              <a:t>Aman dipanggil berulang: langsung kembali bila sudah tersambung.</a:t>
            </a:r>
            <a:endParaRPr lang="en-US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chemeClr val="tx1"/>
                </a:solidFill>
              </a:rPr>
              <a:t>Dipanggil tiap slot sebelum POST, sehingga koneksi putus pulih sendiri.</a:t>
            </a:r>
            <a:endParaRPr lang="en-US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chemeClr val="tx1"/>
                </a:solidFill>
              </a:rPr>
              <a:t>Ada batas waktu, tidak menunggu selamanya.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HTTPS dengan WiFiClientSecure</a:t>
            </a:r>
            <a:endParaRPr lang="en-US" sz="2800" dirty="0"/>
          </a:p>
        </p:txBody>
      </p:sp>
      <p:sp>
        <p:nvSpPr>
          <p:cNvPr id="3" name="code-tls-bg"/>
          <p:cNvSpPr/>
          <p:nvPr/>
        </p:nvSpPr>
        <p:spPr>
          <a:xfrm>
            <a:off x="457200" y="1051560"/>
            <a:ext cx="4937760" cy="1600200"/>
          </a:xfrm>
          <a:prstGeom prst="roundRect">
            <a:avLst>
              <a:gd name="adj" fmla="val 457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code-tls"/>
          <p:cNvSpPr txBox="1"/>
          <p:nvPr/>
        </p:nvSpPr>
        <p:spPr>
          <a:xfrm>
            <a:off x="502920" y="1097280"/>
            <a:ext cx="4846320" cy="15087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WiFiClientSecure *client_birulangit;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client_birulangit = new WiFiClientSecure;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client_birulangit-&gt;setInsecure();    </a:t>
            </a: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praktikum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produksi: -&gt;setCACert(root_ca);</a:t>
            </a:r>
            <a:endParaRPr lang="en-US" sz="1100" dirty="0"/>
          </a:p>
        </p:txBody>
      </p:sp>
      <p:sp>
        <p:nvSpPr>
          <p:cNvPr id="5" name="card-setInsecure()"/>
          <p:cNvSpPr/>
          <p:nvPr/>
        </p:nvSpPr>
        <p:spPr>
          <a:xfrm>
            <a:off x="5669280" y="1051560"/>
            <a:ext cx="3017520" cy="352044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833872" y="1161288"/>
            <a:ext cx="2688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setInsecure()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833872" y="1508760"/>
            <a:ext cx="2688336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Data tetap terenkripsi, tetapi identitas server tidak diverifikasi. Cukup untuk praktikum; produksi memakai setCACert().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833872" y="2148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Satu client dipakai ulang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833872" y="24688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Handshake TLS memakan puluhan KB heap dan waktu. Buat sekali di setup(), pakai untuk semua POST.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833872" y="3383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Rahasia jaringan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833872" y="37033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SSID dan password jangan diunggah ke repositori publik. Simpan di file konfigurasi terpisah.</a:t>
            </a:r>
            <a:endParaRPr lang="en-US" sz="1200" dirty="0"/>
          </a:p>
        </p:txBody>
      </p:sp>
      <p:sp>
        <p:nvSpPr>
          <p:cNvPr id="12" name="tls-flow"/>
          <p:cNvSpPr/>
          <p:nvPr/>
        </p:nvSpPr>
        <p:spPr>
          <a:xfrm>
            <a:off x="457200" y="2880360"/>
            <a:ext cx="493776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lsb-0"/>
          <p:cNvSpPr/>
          <p:nvPr/>
        </p:nvSpPr>
        <p:spPr>
          <a:xfrm>
            <a:off x="731520" y="3246120"/>
            <a:ext cx="1188720" cy="640080"/>
          </a:xfrm>
          <a:prstGeom prst="roundRect">
            <a:avLst>
              <a:gd name="adj" fmla="val 1142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24612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ESP32</a:t>
            </a:r>
            <a:endParaRPr lang="en-US" sz="1400" dirty="0"/>
          </a:p>
        </p:txBody>
      </p:sp>
      <p:sp>
        <p:nvSpPr>
          <p:cNvPr id="15" name="tarrow-0"/>
          <p:cNvSpPr/>
          <p:nvPr/>
        </p:nvSpPr>
        <p:spPr>
          <a:xfrm rot="5400000">
            <a:off x="2011680" y="3465576"/>
            <a:ext cx="118872" cy="201168"/>
          </a:xfrm>
          <a:prstGeom prst="triangl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6" name="tlsb-1"/>
          <p:cNvSpPr/>
          <p:nvPr/>
        </p:nvSpPr>
        <p:spPr>
          <a:xfrm>
            <a:off x="2331720" y="3246120"/>
            <a:ext cx="1188720" cy="640080"/>
          </a:xfrm>
          <a:prstGeom prst="roundRect">
            <a:avLst>
              <a:gd name="adj" fmla="val 1142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331720" y="324612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TLS</a:t>
            </a:r>
            <a:endParaRPr lang="en-US" sz="1400" dirty="0"/>
          </a:p>
        </p:txBody>
      </p:sp>
      <p:sp>
        <p:nvSpPr>
          <p:cNvPr id="18" name="tarrow-1"/>
          <p:cNvSpPr/>
          <p:nvPr/>
        </p:nvSpPr>
        <p:spPr>
          <a:xfrm rot="5400000">
            <a:off x="3611880" y="3465576"/>
            <a:ext cx="118872" cy="201168"/>
          </a:xfrm>
          <a:prstGeom prst="triangl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9" name="tlsb-2"/>
          <p:cNvSpPr/>
          <p:nvPr/>
        </p:nvSpPr>
        <p:spPr>
          <a:xfrm>
            <a:off x="3931920" y="3246120"/>
            <a:ext cx="1188720" cy="640080"/>
          </a:xfrm>
          <a:prstGeom prst="roundRect">
            <a:avLst>
              <a:gd name="adj" fmla="val 1142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931920" y="324612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Server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4023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chemeClr val="tx2"/>
                </a:solidFill>
              </a:rPr>
              <a:t>Port 443, data terenkripsi di sepanjang jalur internet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109728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72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7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23774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Sinkron Waktu via Server Sendiri</a:t>
            </a:r>
            <a:endParaRPr lang="en-US" sz="34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320040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RTC ESP32 disetel dari endpoint HTTPS milik sendiri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Mengapa Tidak Langsung NTP?</a:t>
            </a:r>
            <a:endParaRPr lang="en-US" sz="2800" dirty="0"/>
          </a:p>
        </p:txBody>
      </p:sp>
      <p:sp>
        <p:nvSpPr>
          <p:cNvPr id="3" name="card-Port NTP sering diblokir"/>
          <p:cNvSpPr/>
          <p:nvPr/>
        </p:nvSpPr>
        <p:spPr>
          <a:xfrm>
            <a:off x="457200" y="1097280"/>
            <a:ext cx="384048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207008"/>
            <a:ext cx="3511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Port NTP sering diblokir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21792" y="1554480"/>
            <a:ext cx="3511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NTP memakai UDP 123 yang kerap ditutup di jaringan kantor, kampus, atau hotspot.</a:t>
            </a:r>
            <a:endParaRPr lang="en-US" sz="1200" dirty="0"/>
          </a:p>
        </p:txBody>
      </p:sp>
      <p:sp>
        <p:nvSpPr>
          <p:cNvPr id="6" name="card-HTTPS hampir selalu terbuka"/>
          <p:cNvSpPr/>
          <p:nvPr/>
        </p:nvSpPr>
        <p:spPr>
          <a:xfrm>
            <a:off x="457200" y="2286000"/>
            <a:ext cx="384048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2395728"/>
            <a:ext cx="3511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HTTPS hampir selalu terbuka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2743200"/>
            <a:ext cx="3511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Port 443 sama dengan jalur pengiriman data, jadi kalau bisa kirim pasti bisa sinkron.</a:t>
            </a:r>
            <a:endParaRPr lang="en-US" sz="1200" dirty="0"/>
          </a:p>
        </p:txBody>
      </p:sp>
      <p:sp>
        <p:nvSpPr>
          <p:cNvPr id="9" name="card-Satu sumber waktu"/>
          <p:cNvSpPr/>
          <p:nvPr/>
        </p:nvSpPr>
        <p:spPr>
          <a:xfrm>
            <a:off x="457200" y="3474720"/>
            <a:ext cx="384048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" y="3584448"/>
            <a:ext cx="3511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Satu sumber waktu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21792" y="3931920"/>
            <a:ext cx="3511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Zona waktu (WIB) dan format sama persis dengan server penerima data.</a:t>
            </a:r>
            <a:endParaRPr lang="en-US" sz="1200" dirty="0"/>
          </a:p>
        </p:txBody>
      </p:sp>
      <p:sp>
        <p:nvSpPr>
          <p:cNvPr id="12" name="life-0"/>
          <p:cNvSpPr/>
          <p:nvPr/>
        </p:nvSpPr>
        <p:spPr>
          <a:xfrm>
            <a:off x="4617720" y="1097280"/>
            <a:ext cx="1005840" cy="41148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17720" y="10972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ESP32</a:t>
            </a:r>
            <a:endParaRPr lang="en-US" sz="1200" dirty="0"/>
          </a:p>
        </p:txBody>
      </p:sp>
      <p:sp>
        <p:nvSpPr>
          <p:cNvPr id="14" name="lifeline-0"/>
          <p:cNvSpPr/>
          <p:nvPr/>
        </p:nvSpPr>
        <p:spPr>
          <a:xfrm>
            <a:off x="5120640" y="1508760"/>
            <a:ext cx="0" cy="301752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dash"/>
          </a:ln>
        </p:spPr>
      </p:sp>
      <p:sp>
        <p:nvSpPr>
          <p:cNvPr id="15" name="life-1"/>
          <p:cNvSpPr/>
          <p:nvPr/>
        </p:nvSpPr>
        <p:spPr>
          <a:xfrm>
            <a:off x="7360920" y="1097280"/>
            <a:ext cx="1005840" cy="41148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60920" y="10972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Server</a:t>
            </a:r>
            <a:endParaRPr lang="en-US" sz="1200" dirty="0"/>
          </a:p>
        </p:txBody>
      </p:sp>
      <p:sp>
        <p:nvSpPr>
          <p:cNvPr id="17" name="lifeline-1"/>
          <p:cNvSpPr/>
          <p:nvPr/>
        </p:nvSpPr>
        <p:spPr>
          <a:xfrm>
            <a:off x="7863840" y="1508760"/>
            <a:ext cx="0" cy="301752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dash"/>
          </a:ln>
        </p:spPr>
      </p:sp>
      <p:sp>
        <p:nvSpPr>
          <p:cNvPr id="18" name="msg-req"/>
          <p:cNvSpPr/>
          <p:nvPr/>
        </p:nvSpPr>
        <p:spPr>
          <a:xfrm>
            <a:off x="5120640" y="2057400"/>
            <a:ext cx="274320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5120640" y="1737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/api/get-time</a:t>
            </a:r>
            <a:endParaRPr lang="en-US" sz="1100" dirty="0"/>
          </a:p>
        </p:txBody>
      </p:sp>
      <p:sp>
        <p:nvSpPr>
          <p:cNvPr id="20" name="msg-res"/>
          <p:cNvSpPr/>
          <p:nvPr/>
        </p:nvSpPr>
        <p:spPr>
          <a:xfrm>
            <a:off x="5120640" y="3017520"/>
            <a:ext cx="274320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headEnd type="triangle"/>
          </a:ln>
        </p:spPr>
      </p:sp>
      <p:sp>
        <p:nvSpPr>
          <p:cNvPr id="21" name="Text 19"/>
          <p:cNvSpPr txBox="1"/>
          <p:nvPr/>
        </p:nvSpPr>
        <p:spPr>
          <a:xfrm>
            <a:off x="4846320" y="23774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{"datetime": "2026-10-03 14:35:12"}</a:t>
            </a:r>
            <a:endParaRPr lang="en-US" sz="1000" dirty="0"/>
          </a:p>
        </p:txBody>
      </p:sp>
      <p:sp>
        <p:nvSpPr>
          <p:cNvPr id="22" name="settime"/>
          <p:cNvSpPr/>
          <p:nvPr/>
        </p:nvSpPr>
        <p:spPr>
          <a:xfrm>
            <a:off x="4572000" y="3429000"/>
            <a:ext cx="1737360" cy="502920"/>
          </a:xfrm>
          <a:prstGeom prst="roundRect">
            <a:avLst>
              <a:gd name="adj" fmla="val 1090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0" y="34290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rtc.setTime(…)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Library ESP32Time</a:t>
            </a:r>
            <a:endParaRPr lang="en-US" sz="2800" dirty="0"/>
          </a:p>
        </p:txBody>
      </p:sp>
      <p:sp>
        <p:nvSpPr>
          <p:cNvPr id="3" name="code-rtclib-bg"/>
          <p:cNvSpPr/>
          <p:nvPr/>
        </p:nvSpPr>
        <p:spPr>
          <a:xfrm>
            <a:off x="457200" y="1051560"/>
            <a:ext cx="3931920" cy="1280160"/>
          </a:xfrm>
          <a:prstGeom prst="roundRect">
            <a:avLst>
              <a:gd name="adj" fmla="val 571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code-rtclib"/>
          <p:cNvSpPr txBox="1"/>
          <p:nvPr/>
        </p:nvSpPr>
        <p:spPr>
          <a:xfrm>
            <a:off x="502920" y="1097280"/>
            <a:ext cx="3840480" cy="11887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&lt;ESP32Time.h&gt;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ESP32Time rtc(0);   </a:t>
            </a: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offset 0: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</a:t>
            </a: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server sudah WIB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51460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Instal ESP32Time (fbiego) lewat Library Manager. Library ini membungkus jam sistem ESP32 sehingga mudah dibaca per komponen.</a:t>
            </a:r>
            <a:endParaRPr lang="en-US" sz="1300" dirty="0"/>
          </a:p>
        </p:txBody>
      </p:sp>
      <p:sp>
        <p:nvSpPr>
          <p:cNvPr id="6" name="month-warn"/>
          <p:cNvSpPr/>
          <p:nvPr/>
        </p:nvSpPr>
        <p:spPr>
          <a:xfrm>
            <a:off x="457200" y="3520440"/>
            <a:ext cx="3931920" cy="1005840"/>
          </a:xfrm>
          <a:prstGeom prst="roundRect">
            <a:avLst>
              <a:gd name="adj" fmla="val 7273"/>
            </a:avLst>
          </a:prstGeom>
          <a:solidFill>
            <a:srgbClr val="FCEBD0"/>
          </a:solidFill>
          <a:ln w="12700">
            <a:solidFill>
              <a:srgbClr val="FCEB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35661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Jebakan: </a:t>
            </a:r>
            <a:r>
              <a:rPr lang="en-US" sz="1200" dirty="0">
                <a:solidFill>
                  <a:schemeClr val="tx1"/>
                </a:solidFill>
              </a:rPr>
              <a:t>getMonth() bernilai 0–11, jadi untuk tampilan selalu ditambah 1. Sebaliknya setTime() menerima bulan 1–12.</a:t>
            </a:r>
            <a:endParaRPr lang="en-US" sz="12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051560"/>
          <a:ext cx="4023360" cy="3206496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Fungsi</a:t>
                      </a:r>
                      <a:endParaRPr lang="en-US" sz="11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Hasil</a:t>
                      </a:r>
                      <a:endParaRPr lang="en-US" sz="11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setTime(dt, mn, jam, tgl, bln, thn)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Setel jam</a:t>
                      </a:r>
                      <a:endParaRPr lang="en-US" sz="11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getYear()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2026</a:t>
                      </a:r>
                      <a:endParaRPr lang="en-US" sz="11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getMonth()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9 (Oktober)</a:t>
                      </a:r>
                      <a:endParaRPr lang="en-US" sz="11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getDay()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getHour(true)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14 (format 24 jam)</a:t>
                      </a:r>
                      <a:endParaRPr lang="en-US" sz="11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getMinute() / getSecond()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36 / 0</a:t>
                      </a:r>
                      <a:endParaRPr lang="en-US" sz="11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Kode: Parsing Respons Waktu</a:t>
            </a:r>
            <a:endParaRPr lang="en-US" sz="2800" dirty="0"/>
          </a:p>
        </p:txBody>
      </p:sp>
      <p:sp>
        <p:nvSpPr>
          <p:cNvPr id="3" name="code-parse-bg"/>
          <p:cNvSpPr/>
          <p:nvPr/>
        </p:nvSpPr>
        <p:spPr>
          <a:xfrm>
            <a:off x="457200" y="1051560"/>
            <a:ext cx="5669280" cy="3520440"/>
          </a:xfrm>
          <a:prstGeom prst="roundRect">
            <a:avLst>
              <a:gd name="adj" fmla="val 207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code-parse"/>
          <p:cNvSpPr txBox="1"/>
          <p:nvPr/>
        </p:nvSpPr>
        <p:spPr>
          <a:xfrm>
            <a:off x="502920" y="1097280"/>
            <a:ext cx="5577840" cy="34290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 = {"datetime": "2026-10-03 14:35:12", ...}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 setRtcFromJson(const String &amp;p)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k = p.indexOf("\"datetime\":");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(k == -1) return false;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a = p.indexOf("\"", k + 11) + 1;  </a:t>
            </a:r>
            <a:r>
              <a:rPr lang="en-US" sz="105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awal nilai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String d = p.substring(a, a + 19);    </a:t>
            </a:r>
            <a:r>
              <a:rPr lang="en-US" sz="105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19 karakter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(d.length() != 19) return false;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rtc.setTime(d.substring(17, 19).toInt(),   </a:t>
            </a:r>
            <a:r>
              <a:rPr lang="en-US" sz="105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detik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d.substring(14, 16).toInt(),   </a:t>
            </a:r>
            <a:r>
              <a:rPr lang="en-US" sz="105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menit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d.substring(11, 13).toInt(),   </a:t>
            </a:r>
            <a:r>
              <a:rPr lang="en-US" sz="105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jam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d.substring(8, 10).toInt(),    </a:t>
            </a:r>
            <a:r>
              <a:rPr lang="en-US" sz="105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tanggal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d.substring(5, 7).toInt(),     </a:t>
            </a:r>
            <a:r>
              <a:rPr lang="en-US" sz="105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bulan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d.substring(0, 4).toInt());    </a:t>
            </a:r>
            <a:r>
              <a:rPr lang="en-US" sz="105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tahun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true;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5" name="idxmap"/>
          <p:cNvSpPr/>
          <p:nvPr/>
        </p:nvSpPr>
        <p:spPr>
          <a:xfrm>
            <a:off x="6355080" y="1051560"/>
            <a:ext cx="2331720" cy="352044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92240" y="11704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Peta indeks string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92240" y="155448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0–3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178040" y="155448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tahun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955280" y="155448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chemeClr val="tx1"/>
                </a:solidFill>
              </a:rPr>
              <a:t>2026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19202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5–6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178040" y="192024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bulan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192024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chemeClr val="tx1"/>
                </a:solidFill>
              </a:rPr>
              <a:t>10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228600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8–9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178040" y="228600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tanggal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955280" y="228600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chemeClr val="tx1"/>
                </a:solidFill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265176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11–12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178040" y="265176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jam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955280" y="265176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chemeClr val="tx1"/>
                </a:solidFill>
              </a:rPr>
              <a:t>14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301752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14–15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178040" y="301752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menit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955280" y="301752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chemeClr val="tx1"/>
                </a:solidFill>
              </a:rPr>
              <a:t>35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338328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17–18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178040" y="338328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detik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955280" y="338328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chemeClr val="tx1"/>
                </a:solidFill>
              </a:rPr>
              <a:t>12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492240" y="38404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chemeClr val="tx2"/>
                </a:solidFill>
              </a:rPr>
              <a:t>Parsing manual tanpa library JSON agar ringan dan mudah ditelusuri.</a:t>
            </a:r>
            <a:endParaRPr lang="en-US" sz="11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Kode: Sync_RTC()</a:t>
            </a:r>
            <a:endParaRPr lang="en-US" sz="2800" dirty="0"/>
          </a:p>
        </p:txBody>
      </p:sp>
      <p:sp>
        <p:nvSpPr>
          <p:cNvPr id="3" name="code-sync-bg"/>
          <p:cNvSpPr/>
          <p:nvPr/>
        </p:nvSpPr>
        <p:spPr>
          <a:xfrm>
            <a:off x="457200" y="1051560"/>
            <a:ext cx="5669280" cy="3520440"/>
          </a:xfrm>
          <a:prstGeom prst="roundRect">
            <a:avLst>
              <a:gd name="adj" fmla="val 207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code-sync"/>
          <p:cNvSpPr txBox="1"/>
          <p:nvPr/>
        </p:nvSpPr>
        <p:spPr>
          <a:xfrm>
            <a:off x="502920" y="1097280"/>
            <a:ext cx="5577840" cy="34290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String api_time =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"https://rndbirulangit.pythonanywhere.com/api/get-time";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 Sync_RTC()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WiFiClientSecure client;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client.setInsecure();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HTTPClient https;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(!https.begin(client, api_time)) return false;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https.setUserAgent(device_name);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unsigned long t0 = millis();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code = https.GET();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unsigned long rtt = millis() - t0;   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waktu pulang-pergi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bool ok = (code &gt;= 200 &amp;&amp; code &lt;= 299)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&amp;&amp; setRtcFromJson(https.getString());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https.end();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Serial.printf("[RTC] %s kode=%d RTT=%lu ms\n",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get_date_time(0).c_str(), code, rtt);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ok;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355080" y="1097280"/>
            <a:ext cx="2331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chemeClr val="tx1"/>
                </a:solidFill>
              </a:rPr>
              <a:t>Mengembalikan true/false agar pemanggil tahu sinkron berhasil atau tidak.</a:t>
            </a:r>
            <a:endParaRPr lang="en-US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chemeClr val="tx1"/>
                </a:solidFill>
              </a:rPr>
              <a:t>RTT dicetak untuk memperkirakan galat waktu.</a:t>
            </a:r>
            <a:endParaRPr lang="en-US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chemeClr val="tx1"/>
                </a:solidFill>
              </a:rPr>
              <a:t>https.end() selalu dipanggil untuk melepas memori.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Kapan Sinkron dan Seberapa Akurat?</a:t>
            </a:r>
            <a:endParaRPr lang="en-US" sz="2800" dirty="0"/>
          </a:p>
        </p:txBody>
      </p:sp>
      <p:sp>
        <p:nvSpPr>
          <p:cNvPr id="3" name="acc-0"/>
          <p:cNvSpPr/>
          <p:nvPr/>
        </p:nvSpPr>
        <p:spPr>
          <a:xfrm>
            <a:off x="457200" y="1097280"/>
            <a:ext cx="1874520" cy="1645920"/>
          </a:xfrm>
          <a:prstGeom prst="roundRect">
            <a:avLst>
              <a:gd name="adj" fmla="val 444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accent2"/>
                </a:solidFill>
              </a:rPr>
              <a:t>&lt; 1 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92024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galat tipikal ≈ RTT/2 + pembulatan detik</a:t>
            </a:r>
            <a:endParaRPr lang="en-US" sz="1100" dirty="0"/>
          </a:p>
        </p:txBody>
      </p:sp>
      <p:sp>
        <p:nvSpPr>
          <p:cNvPr id="6" name="acc-1"/>
          <p:cNvSpPr/>
          <p:nvPr/>
        </p:nvSpPr>
        <p:spPr>
          <a:xfrm>
            <a:off x="2514600" y="1097280"/>
            <a:ext cx="187452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514600" y="118872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120 s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2651760" y="192024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panjang satu slot data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88036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tx2"/>
                </a:solidFill>
              </a:rPr>
              <a:t>Galat sinkron jauh lebih kecil dari slot, jadi kompensasi latensi belum diperlukan.</a:t>
            </a:r>
            <a:endParaRPr lang="en-US" sz="1200" dirty="0"/>
          </a:p>
        </p:txBody>
      </p:sp>
      <p:sp>
        <p:nvSpPr>
          <p:cNvPr id="10" name="chip-1"/>
          <p:cNvSpPr/>
          <p:nvPr/>
        </p:nvSpPr>
        <p:spPr>
          <a:xfrm>
            <a:off x="4754880" y="114300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54880" y="1143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0" y="10972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Saat boot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303520" y="138988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Setelah WiFi tersambung di setup().</a:t>
            </a:r>
            <a:endParaRPr lang="en-US" sz="1200" dirty="0"/>
          </a:p>
        </p:txBody>
      </p:sp>
      <p:sp>
        <p:nvSpPr>
          <p:cNvPr id="14" name="chip-2"/>
          <p:cNvSpPr/>
          <p:nvPr/>
        </p:nvSpPr>
        <p:spPr>
          <a:xfrm>
            <a:off x="4754880" y="201168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54880" y="2011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303520" y="19659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Belum sinkron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303520" y="225856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Tahun RTC &lt; 2025 → coba lagi tiap 30 s; data tidak dikirim dulu.</a:t>
            </a:r>
            <a:endParaRPr lang="en-US" sz="1200" dirty="0"/>
          </a:p>
        </p:txBody>
      </p:sp>
      <p:sp>
        <p:nvSpPr>
          <p:cNvPr id="18" name="chip-3"/>
          <p:cNvSpPr/>
          <p:nvPr/>
        </p:nvSpPr>
        <p:spPr>
          <a:xfrm>
            <a:off x="4754880" y="288036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754880" y="2880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303520" y="28346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Harian 00:01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303520" y="312724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Menit ganjil, jadi tidak bentrok dengan slot pengiriman.</a:t>
            </a:r>
            <a:endParaRPr lang="en-US" sz="1200" dirty="0"/>
          </a:p>
        </p:txBody>
      </p:sp>
      <p:sp>
        <p:nvSpPr>
          <p:cNvPr id="22" name="chip-4"/>
          <p:cNvSpPr/>
          <p:nvPr/>
        </p:nvSpPr>
        <p:spPr>
          <a:xfrm>
            <a:off x="4754880" y="374904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754880" y="3749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303520" y="37033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Saat offline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303520" y="399592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RTC tetap berjalan dari kristal, disinkron lagi saat online.</a:t>
            </a:r>
            <a:endParaRPr lang="en-US" sz="12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Fungsi Bantu Format Waktu</a:t>
            </a:r>
            <a:endParaRPr lang="en-US" sz="28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4572000" cy="27432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Fungsi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Contoh hasil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get_date_time(0)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2026-10-03 14:36:07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get_date_time(1)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2026-10-03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get_date_time(2)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14:36:07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get_precission_second(0)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2026-10-03 14:36:00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get_uptime()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02:14:07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card-Kenapa detik dipaksa 00?"/>
          <p:cNvSpPr/>
          <p:nvPr/>
        </p:nvSpPr>
        <p:spPr>
          <a:xfrm>
            <a:off x="5303520" y="1097280"/>
            <a:ext cx="3383280" cy="27432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68112" y="1207008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Kenapa detik dipaksa 00?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68112" y="1554480"/>
            <a:ext cx="305409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created_at memakai get_precission_second(0). Stempel waktu selalu menunjuk awal slot, sehingga data antar perangkat sejajar walaupun pengiriman molor beberapa detik.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tx2"/>
                </a:solidFill>
              </a:rPr>
              <a:t>Lihat Date_Time.h untuk implementasi lengkap dengan snprintf().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109728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72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7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23774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Membangun Sistem IoT Utuh</a:t>
            </a:r>
            <a:endParaRPr lang="en-US" sz="34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320040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Akuisisi, sinkron waktu, dan pengiriman data mentah tiap 2 menit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Struktur Proyek dan Urutan Include</a:t>
            </a:r>
            <a:endParaRPr lang="en-US" sz="2800" dirty="0"/>
          </a:p>
        </p:txBody>
      </p:sp>
      <p:sp>
        <p:nvSpPr>
          <p:cNvPr id="3" name="code-tree-bg"/>
          <p:cNvSpPr/>
          <p:nvPr/>
        </p:nvSpPr>
        <p:spPr>
          <a:xfrm>
            <a:off x="457200" y="1051560"/>
            <a:ext cx="3657600" cy="1600200"/>
          </a:xfrm>
          <a:prstGeom prst="roundRect">
            <a:avLst>
              <a:gd name="adj" fmla="val 457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code-tree"/>
          <p:cNvSpPr txBox="1"/>
          <p:nvPr/>
        </p:nvSpPr>
        <p:spPr>
          <a:xfrm>
            <a:off x="502920" y="1097280"/>
            <a:ext cx="3566160" cy="15087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IoT_AQMS/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IoT_AQMS.ino   </a:t>
            </a: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config, sensor, loop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Date_Time.h    </a:t>
            </a: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RTC + sinkron waktu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Send.h         </a:t>
            </a: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JSON + POST</a:t>
            </a:r>
            <a:endParaRPr lang="en-US" sz="1100" dirty="0"/>
          </a:p>
        </p:txBody>
      </p:sp>
      <p:sp>
        <p:nvSpPr>
          <p:cNvPr id="5" name="chip-1"/>
          <p:cNvSpPr/>
          <p:nvPr/>
        </p:nvSpPr>
        <p:spPr>
          <a:xfrm>
            <a:off x="4434840" y="108813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434840" y="1088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937760" y="10515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Library: WiFi, WiFiClientSecure, HTTPClient</a:t>
            </a:r>
            <a:endParaRPr lang="en-US" sz="1200" dirty="0"/>
          </a:p>
        </p:txBody>
      </p:sp>
      <p:sp>
        <p:nvSpPr>
          <p:cNvPr id="8" name="chip-2"/>
          <p:cNvSpPr/>
          <p:nvPr/>
        </p:nvSpPr>
        <p:spPr>
          <a:xfrm>
            <a:off x="4434840" y="163677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34840" y="1636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16002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Konfigurasi: device_name, SSID, API</a:t>
            </a:r>
            <a:endParaRPr lang="en-US" sz="1200" dirty="0"/>
          </a:p>
        </p:txBody>
      </p:sp>
      <p:sp>
        <p:nvSpPr>
          <p:cNvPr id="11" name="chip-3"/>
          <p:cNvSpPr/>
          <p:nvPr/>
        </p:nvSpPr>
        <p:spPr>
          <a:xfrm>
            <a:off x="4434840" y="218541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34840" y="2185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21488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Variabel global: raw_2m, client_birulangit</a:t>
            </a:r>
            <a:endParaRPr lang="en-US" sz="1200" dirty="0"/>
          </a:p>
        </p:txBody>
      </p:sp>
      <p:sp>
        <p:nvSpPr>
          <p:cNvPr id="14" name="chip-4"/>
          <p:cNvSpPr/>
          <p:nvPr/>
        </p:nvSpPr>
        <p:spPr>
          <a:xfrm>
            <a:off x="4434840" y="273405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434840" y="2734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4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937760" y="26974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"Date_Time.h"</a:t>
            </a:r>
            <a:endParaRPr lang="en-US" sz="1200" dirty="0"/>
          </a:p>
        </p:txBody>
      </p:sp>
      <p:sp>
        <p:nvSpPr>
          <p:cNvPr id="17" name="chip-5"/>
          <p:cNvSpPr/>
          <p:nvPr/>
        </p:nvSpPr>
        <p:spPr>
          <a:xfrm>
            <a:off x="4434840" y="328269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434840" y="3282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5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937760" y="32461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"Send.h"</a:t>
            </a:r>
            <a:endParaRPr lang="en-US" sz="1200" dirty="0"/>
          </a:p>
        </p:txBody>
      </p:sp>
      <p:sp>
        <p:nvSpPr>
          <p:cNvPr id="20" name="chip-6"/>
          <p:cNvSpPr/>
          <p:nvPr/>
        </p:nvSpPr>
        <p:spPr>
          <a:xfrm>
            <a:off x="4434840" y="383133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434840" y="3831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937760" y="37947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Fungsi .ino: setup(), loop(), dst.</a:t>
            </a:r>
            <a:endParaRPr lang="en-US" sz="1200" dirty="0"/>
          </a:p>
        </p:txBody>
      </p:sp>
      <p:sp>
        <p:nvSpPr>
          <p:cNvPr id="23" name="include-warn"/>
          <p:cNvSpPr/>
          <p:nvPr/>
        </p:nvSpPr>
        <p:spPr>
          <a:xfrm>
            <a:off x="457200" y="2834640"/>
            <a:ext cx="3657600" cy="1737360"/>
          </a:xfrm>
          <a:prstGeom prst="roundRect">
            <a:avLst>
              <a:gd name="adj" fmla="val 4211"/>
            </a:avLst>
          </a:prstGeom>
          <a:solidFill>
            <a:srgbClr val="FCEBD0"/>
          </a:solidFill>
          <a:ln w="12700">
            <a:solidFill>
              <a:srgbClr val="FCEBD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94360" y="2926080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Penting: </a:t>
            </a:r>
            <a:r>
              <a:rPr lang="en-US" sz="1200" dirty="0">
                <a:solidFill>
                  <a:schemeClr val="tx1"/>
                </a:solidFill>
              </a:rPr>
              <a:t>file .h dibaca seolah ditempel di posisinya. Bila device_name dideklarasikan setelah #include "Date_Time.h", kompilasi gagal dengan pesan 'device_name' was not declared.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Kode: Bagian Atas IoT_AQMS.ino</a:t>
            </a:r>
            <a:endParaRPr lang="en-US" sz="2800" dirty="0"/>
          </a:p>
        </p:txBody>
      </p:sp>
      <p:sp>
        <p:nvSpPr>
          <p:cNvPr id="3" name="code-top-bg"/>
          <p:cNvSpPr/>
          <p:nvPr/>
        </p:nvSpPr>
        <p:spPr>
          <a:xfrm>
            <a:off x="457200" y="1051560"/>
            <a:ext cx="8229600" cy="3520440"/>
          </a:xfrm>
          <a:prstGeom prst="roundRect">
            <a:avLst>
              <a:gd name="adj" fmla="val 207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code-top"/>
          <p:cNvSpPr txBox="1"/>
          <p:nvPr/>
        </p:nvSpPr>
        <p:spPr>
          <a:xfrm>
            <a:off x="502920" y="1097280"/>
            <a:ext cx="8138160" cy="34290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&lt;WiFi.h&gt;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&lt;WiFiClientSecure.h&gt;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&lt;HTTPClient.h&gt;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String device_name = "TMM_JKT-";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String ssid        = "NAMA_WIFI";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String pass        = "PASSWORD_WIFI";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api_rndbirulangit = "https://rndbirulangit.pythonanywhere.com/api/post/telkom_group";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 CO2v = NAN, PM25v = NAN, Tempinv = NAN, Humidinv = NAN;   </a:t>
            </a:r>
            <a:r>
              <a:rPr lang="en-US" sz="105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diisi kode sensor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RawData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String created_at, uptime, RSSI, SD_status, PM25_status, SHT_status;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String CO2v, PM25v, Tempinv, Humidinv;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RawData raw_2m;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WiFiClientSecure *client_birulangit;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"Date_Time.h"          </a:t>
            </a:r>
            <a:r>
              <a:rPr lang="en-US" sz="105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HARUS setelah deklarasi di atas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"Send.h"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Kode: Mengisi Paket dan setup()</a:t>
            </a:r>
            <a:endParaRPr lang="en-US" sz="2800" dirty="0"/>
          </a:p>
        </p:txBody>
      </p:sp>
      <p:sp>
        <p:nvSpPr>
          <p:cNvPr id="3" name="code-fill-bg"/>
          <p:cNvSpPr/>
          <p:nvPr/>
        </p:nvSpPr>
        <p:spPr>
          <a:xfrm>
            <a:off x="457200" y="1051560"/>
            <a:ext cx="5212080" cy="3520440"/>
          </a:xfrm>
          <a:prstGeom prst="roundRect">
            <a:avLst>
              <a:gd name="adj" fmla="val 207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code-fill"/>
          <p:cNvSpPr txBox="1"/>
          <p:nvPr/>
        </p:nvSpPr>
        <p:spPr>
          <a:xfrm>
            <a:off x="502920" y="1097280"/>
            <a:ext cx="5120640" cy="34290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fillRaw()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raw_2m.created_at  = get_precission_second(0);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raw_2m.uptime      = get_uptime();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raw_2m.RSSI        = String(WiFi.RSSI());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raw_2m.SD_status   = "0";         </a:t>
            </a:r>
            <a:r>
              <a:rPr lang="en-US" sz="105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tanpa SD card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raw_2m.PM25_status = isnan(PM25v)   ? "0" : "1";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raw_2m.SHT_status  = isnan(Tempinv) ? "0" : "1";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raw_2m.CO2v        = String(CO2v, 0);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raw_2m.PM25v       = String(PM25v, 1);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raw_2m.Tempinv     = String(Tempinv, 2);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raw_2m.Humidinv    = String(Humidinv, 2);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5" name="code-setup-bg"/>
          <p:cNvSpPr/>
          <p:nvPr/>
        </p:nvSpPr>
        <p:spPr>
          <a:xfrm>
            <a:off x="5852160" y="1051560"/>
            <a:ext cx="2834640" cy="3520440"/>
          </a:xfrm>
          <a:prstGeom prst="roundRect">
            <a:avLst>
              <a:gd name="adj" fmla="val 258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" name="code-setup"/>
          <p:cNvSpPr txBox="1"/>
          <p:nvPr/>
        </p:nvSpPr>
        <p:spPr>
          <a:xfrm>
            <a:off x="5897880" y="1097280"/>
            <a:ext cx="2743200" cy="34290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setup()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Serial.begin(115200);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initSensors();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client_birulangit =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 WiFiClientSecure;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client_birulangit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-&gt;setInsecure();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connectWiFi();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(Sync_RTC())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lastSyncDay =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rtc.getDay();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Kode: Menjaga Waktu Tetap Benar</a:t>
            </a:r>
            <a:endParaRPr lang="en-US" sz="2800" dirty="0"/>
          </a:p>
        </p:txBody>
      </p:sp>
      <p:sp>
        <p:nvSpPr>
          <p:cNvPr id="3" name="code-maintain-bg"/>
          <p:cNvSpPr/>
          <p:nvPr/>
        </p:nvSpPr>
        <p:spPr>
          <a:xfrm>
            <a:off x="457200" y="1051560"/>
            <a:ext cx="5669280" cy="3520440"/>
          </a:xfrm>
          <a:prstGeom prst="roundRect">
            <a:avLst>
              <a:gd name="adj" fmla="val 207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code-maintain"/>
          <p:cNvSpPr txBox="1"/>
          <p:nvPr/>
        </p:nvSpPr>
        <p:spPr>
          <a:xfrm>
            <a:off x="502920" y="1097280"/>
            <a:ext cx="5577840" cy="34290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lastSyncDay = -1;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unsigned long lastTry = 0;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maintainTime()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(millis() - lastTry &lt; 30000) return;   </a:t>
            </a:r>
            <a:r>
              <a:rPr lang="en-US" sz="105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jeda 30 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bool valid = rtc.getYear() &gt;= 2025;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bool daily = valid &amp;&amp; rtc.getHour(true) == 0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&amp;&amp; rtc.getMinute() == 1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&amp;&amp; rtc.getDay() != lastSyncDay;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(!valid || daily)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lastTry = millis();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connectWiFi();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(Sync_RTC()) lastSyncDay = rtc.getDay();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5" name="card-Tahun &lt; 2025"/>
          <p:cNvSpPr/>
          <p:nvPr/>
        </p:nvSpPr>
        <p:spPr>
          <a:xfrm>
            <a:off x="6355080" y="1051560"/>
            <a:ext cx="233172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19672" y="1161288"/>
            <a:ext cx="2002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Tahun &lt; 2025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519672" y="1508760"/>
            <a:ext cx="20025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Artinya RTC belum pernah disetel (masih 1970). Data dengan waktu ini tidak boleh dikirim.</a:t>
            </a:r>
            <a:endParaRPr lang="en-US" sz="1200" dirty="0"/>
          </a:p>
        </p:txBody>
      </p:sp>
      <p:sp>
        <p:nvSpPr>
          <p:cNvPr id="8" name="card-lastSyncDay"/>
          <p:cNvSpPr/>
          <p:nvPr/>
        </p:nvSpPr>
        <p:spPr>
          <a:xfrm>
            <a:off x="6355080" y="2880360"/>
            <a:ext cx="233172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19672" y="2990088"/>
            <a:ext cx="2002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lastSyncDay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19672" y="3337560"/>
            <a:ext cx="20025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Mencegah sinkron harian terulang berkali-kali di menit 00:01 yang sama.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Kode: loop() Pengiriman per 2 Menit</a:t>
            </a:r>
            <a:endParaRPr lang="en-US" sz="2800" dirty="0"/>
          </a:p>
        </p:txBody>
      </p:sp>
      <p:sp>
        <p:nvSpPr>
          <p:cNvPr id="3" name="code-loop2-bg"/>
          <p:cNvSpPr/>
          <p:nvPr/>
        </p:nvSpPr>
        <p:spPr>
          <a:xfrm>
            <a:off x="457200" y="1051560"/>
            <a:ext cx="5669280" cy="3520440"/>
          </a:xfrm>
          <a:prstGeom prst="roundRect">
            <a:avLst>
              <a:gd name="adj" fmla="val 207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code-loop2"/>
          <p:cNvSpPr txBox="1"/>
          <p:nvPr/>
        </p:nvSpPr>
        <p:spPr>
          <a:xfrm>
            <a:off x="502920" y="1097280"/>
            <a:ext cx="5577840" cy="34290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 send_2m = false;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loop()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maintainTime();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m = rtc.getMinute(), s = rtc.getSecond();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(rtc.getYear() &gt;= 2025 &amp;&amp; m % 2 == 0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&amp;&amp; s == 0 &amp;&amp; !send_2m)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send_2m = true;                </a:t>
            </a:r>
            <a:r>
              <a:rPr lang="en-US" sz="105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kunci: sekali per slot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readSensors();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fillRaw();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connectWiFi();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(WiFi.status() == WL_CONNECTED)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Send_rndbirulangit();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(s != 0) send_2m = false;     </a:t>
            </a:r>
            <a:r>
              <a:rPr lang="en-US" sz="105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buka kunci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delay(50);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355080" y="1097280"/>
            <a:ext cx="2331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chemeClr val="tx1"/>
                </a:solidFill>
              </a:rPr>
              <a:t>Slot = menit genap, detik ke-0, dibaca dari RTC.</a:t>
            </a:r>
            <a:endParaRPr lang="en-US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chemeClr val="tx1"/>
                </a:solidFill>
              </a:rPr>
              <a:t>Flag send_2m mencegah kirim ganda selama detik 0 berlangsung.</a:t>
            </a:r>
            <a:endParaRPr lang="en-US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chemeClr val="tx1"/>
                </a:solidFill>
              </a:rPr>
              <a:t>Polanya sama dengan sampling selaras jam di pertemuan 1.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Kode: Penyusun JSON</a:t>
            </a:r>
            <a:endParaRPr lang="en-US" sz="2800" dirty="0"/>
          </a:p>
        </p:txBody>
      </p:sp>
      <p:sp>
        <p:nvSpPr>
          <p:cNvPr id="3" name="code-json-bg"/>
          <p:cNvSpPr/>
          <p:nvPr/>
        </p:nvSpPr>
        <p:spPr>
          <a:xfrm>
            <a:off x="457200" y="1051560"/>
            <a:ext cx="5120640" cy="2103120"/>
          </a:xfrm>
          <a:prstGeom prst="roundRect">
            <a:avLst>
              <a:gd name="adj" fmla="val 347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code-json"/>
          <p:cNvSpPr txBox="1"/>
          <p:nvPr/>
        </p:nvSpPr>
        <p:spPr>
          <a:xfrm>
            <a:off x="502920" y="1097280"/>
            <a:ext cx="5029200" cy="20116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jsonString;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addJson(String key, String value)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(jsonString.length() &gt; 0) jsonString += ",";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jsonString += "\"" + key + "\":\"" + value + "\"";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getJson() { return "{" + jsonString + "}"; }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3375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Cara kerjanya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657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addJson("co2", "612")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2743200" y="3657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"co2":"612"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9593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addJson("temp", "27.81")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2743200" y="39593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"co2":"612","temp":"27.81"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2611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getJson()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2743200" y="426110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{"co2":"612","temp":"27.81"}</a:t>
            </a:r>
            <a:endParaRPr lang="en-US" sz="1050" dirty="0"/>
          </a:p>
        </p:txBody>
      </p:sp>
      <p:sp>
        <p:nvSpPr>
          <p:cNvPr id="12" name="card-Sederhana"/>
          <p:cNvSpPr/>
          <p:nvPr/>
        </p:nvSpPr>
        <p:spPr>
          <a:xfrm>
            <a:off x="5852160" y="1051560"/>
            <a:ext cx="283464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16752" y="1161288"/>
            <a:ext cx="2505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Sederhana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016752" y="1508760"/>
            <a:ext cx="25054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Cukup penggabungan String, tanpa library tambahan. Mudah dibaca mahasiswa.</a:t>
            </a:r>
            <a:endParaRPr lang="en-US" sz="1200" dirty="0"/>
          </a:p>
        </p:txBody>
      </p:sp>
      <p:sp>
        <p:nvSpPr>
          <p:cNvPr id="15" name="card-Batasan"/>
          <p:cNvSpPr/>
          <p:nvPr/>
        </p:nvSpPr>
        <p:spPr>
          <a:xfrm>
            <a:off x="5852160" y="2880360"/>
            <a:ext cx="283464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016752" y="2990088"/>
            <a:ext cx="2505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Batasan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016752" y="3337560"/>
            <a:ext cx="25054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Tidak meng-escape tanda kutip di dalam nilai. Untuk payload kompleks gunakan ArduinoJson.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Kode: POST dengan Percobaan Ulang</a:t>
            </a:r>
            <a:endParaRPr lang="en-US" sz="2800" dirty="0"/>
          </a:p>
        </p:txBody>
      </p:sp>
      <p:sp>
        <p:nvSpPr>
          <p:cNvPr id="3" name="code-post-bg"/>
          <p:cNvSpPr/>
          <p:nvPr/>
        </p:nvSpPr>
        <p:spPr>
          <a:xfrm>
            <a:off x="457200" y="1051560"/>
            <a:ext cx="5669280" cy="3520440"/>
          </a:xfrm>
          <a:prstGeom prst="roundRect">
            <a:avLst>
              <a:gd name="adj" fmla="val 207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code-post"/>
          <p:cNvSpPr txBox="1"/>
          <p:nvPr/>
        </p:nvSpPr>
        <p:spPr>
          <a:xfrm>
            <a:off x="502920" y="1097280"/>
            <a:ext cx="5577840" cy="34290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 postJson(const String &amp;tag, const String &amp;url)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bool success = false;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HTTPClient https;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(https.begin(*client_birulangit, url))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https.setUserAgent(device_name);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https.addHeader("Content-Type", "application/json");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body = getJson();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attempt = 1; attempt &lt;= 5 &amp;&amp; !success; attempt++)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int code = https.POST(body);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Serial.printf("[%s] percobaan %d -&gt; kode %d\n",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tag.c_str(), attempt, code);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success = (code == 200 || code == 201);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if (!success &amp;&amp; attempt &lt; 5) delay(1000);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https.end();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jsonString = "";                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siap untuk kiriman berikutnya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success;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355080" y="1097280"/>
            <a:ext cx="2331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chemeClr val="tx1"/>
                </a:solidFill>
              </a:rPr>
              <a:t>Fungsi umum: cukup ganti URL bila kelak ada endpoint lain.</a:t>
            </a:r>
            <a:endParaRPr lang="en-US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chemeClr val="tx1"/>
                </a:solidFill>
              </a:rPr>
              <a:t>Maksimal 5 percobaan dengan jeda 1 detik.</a:t>
            </a:r>
            <a:endParaRPr lang="en-US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chemeClr val="tx1"/>
                </a:solidFill>
              </a:rPr>
              <a:t>jsonString selalu dikosongkan, berhasil atau gagal.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Kode: Fungsi Kirim ke Server</a:t>
            </a:r>
            <a:endParaRPr lang="en-US" sz="2800" dirty="0"/>
          </a:p>
        </p:txBody>
      </p:sp>
      <p:sp>
        <p:nvSpPr>
          <p:cNvPr id="3" name="code-send1-bg"/>
          <p:cNvSpPr/>
          <p:nvPr/>
        </p:nvSpPr>
        <p:spPr>
          <a:xfrm>
            <a:off x="457200" y="1051560"/>
            <a:ext cx="5669280" cy="3520440"/>
          </a:xfrm>
          <a:prstGeom prst="roundRect">
            <a:avLst>
              <a:gd name="adj" fmla="val 207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code-send1"/>
          <p:cNvSpPr txBox="1"/>
          <p:nvPr/>
        </p:nvSpPr>
        <p:spPr>
          <a:xfrm>
            <a:off x="502920" y="1097280"/>
            <a:ext cx="5577840" cy="34290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 Send_rndbirulangit()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addJson("device_1",      device_name);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addJson("RSSI_1",        raw_2m.RSSI);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addJson("created_at_1",  raw_2m.created_at);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addJson("Uptime_1",      raw_2m.uptime);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addJson("SD_status_1",   raw_2m.SD_status);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addJson("PM25_status_1", raw_2m.PM25_status);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addJson("SHT_status_1",  raw_2m.SHT_status);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addJson("CO2v_1",        raw_2m.CO2v);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addJson("PM25v_1",       raw_2m.PM25v);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addJson("Tempinv_1",     raw_2m.Tempinv);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addJson("Humidinv_1",    raw_2m.Humidinv);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postJson("RnD BiruLangit", api_rndbirulangit);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5" name="card-Urutan field"/>
          <p:cNvSpPr/>
          <p:nvPr/>
        </p:nvSpPr>
        <p:spPr>
          <a:xfrm>
            <a:off x="6355080" y="1051560"/>
            <a:ext cx="233172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19672" y="1161288"/>
            <a:ext cx="2002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Urutan field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519672" y="1508760"/>
            <a:ext cx="20025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Bebas, karena JSON dibaca berdasarkan nama key, bukan posisi.</a:t>
            </a:r>
            <a:endParaRPr lang="en-US" sz="1200" dirty="0"/>
          </a:p>
        </p:txBody>
      </p:sp>
      <p:sp>
        <p:nvSpPr>
          <p:cNvPr id="8" name="card-Nama key"/>
          <p:cNvSpPr/>
          <p:nvPr/>
        </p:nvSpPr>
        <p:spPr>
          <a:xfrm>
            <a:off x="6355080" y="2880360"/>
            <a:ext cx="233172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19672" y="2990088"/>
            <a:ext cx="2002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Nama key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19672" y="3337560"/>
            <a:ext cx="20025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Harus persis sama dengan yang diharapkan server, termasuk huruf besar-kecil.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Satu Siklus Pengiriman</a:t>
            </a:r>
            <a:endParaRPr lang="en-US" sz="2800" dirty="0"/>
          </a:p>
        </p:txBody>
      </p:sp>
      <p:sp>
        <p:nvSpPr>
          <p:cNvPr id="3" name="timeline"/>
          <p:cNvSpPr/>
          <p:nvPr/>
        </p:nvSpPr>
        <p:spPr>
          <a:xfrm>
            <a:off x="1280160" y="1920240"/>
            <a:ext cx="658368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4" name="chip-1"/>
          <p:cNvSpPr/>
          <p:nvPr/>
        </p:nvSpPr>
        <p:spPr>
          <a:xfrm>
            <a:off x="1115568" y="1755648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15568" y="1755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2344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14:36:00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2402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Slot terbuka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5603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chemeClr val="tx1"/>
                </a:solidFill>
              </a:rPr>
              <a:t>m genap, s = 0</a:t>
            </a:r>
            <a:endParaRPr lang="en-US" sz="1050" dirty="0"/>
          </a:p>
        </p:txBody>
      </p:sp>
      <p:sp>
        <p:nvSpPr>
          <p:cNvPr id="9" name="chip-2"/>
          <p:cNvSpPr/>
          <p:nvPr/>
        </p:nvSpPr>
        <p:spPr>
          <a:xfrm>
            <a:off x="2761488" y="1755648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61488" y="1755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286000" y="12344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+0,1 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240280" y="22402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readSensors()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240280" y="25603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chemeClr val="tx1"/>
                </a:solidFill>
              </a:rPr>
              <a:t>isi CO2v … Humidinv</a:t>
            </a:r>
            <a:endParaRPr lang="en-US" sz="1050" dirty="0"/>
          </a:p>
        </p:txBody>
      </p:sp>
      <p:sp>
        <p:nvSpPr>
          <p:cNvPr id="14" name="chip-3"/>
          <p:cNvSpPr/>
          <p:nvPr/>
        </p:nvSpPr>
        <p:spPr>
          <a:xfrm>
            <a:off x="4407408" y="1755648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407408" y="1755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931920" y="12344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+0,2 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886200" y="22402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fillRaw()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886200" y="25603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chemeClr val="tx1"/>
                </a:solidFill>
              </a:rPr>
              <a:t>created_at = 14:36:00</a:t>
            </a:r>
            <a:endParaRPr lang="en-US" sz="1050" dirty="0"/>
          </a:p>
        </p:txBody>
      </p:sp>
      <p:sp>
        <p:nvSpPr>
          <p:cNvPr id="19" name="chip-4"/>
          <p:cNvSpPr/>
          <p:nvPr/>
        </p:nvSpPr>
        <p:spPr>
          <a:xfrm>
            <a:off x="6053328" y="1755648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053328" y="1755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577840" y="12344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+0,3 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532120" y="22402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connectWiFi()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532120" y="25603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chemeClr val="tx1"/>
                </a:solidFill>
              </a:rPr>
              <a:t>cek / sambung ulang</a:t>
            </a:r>
            <a:endParaRPr lang="en-US" sz="1050" dirty="0"/>
          </a:p>
        </p:txBody>
      </p:sp>
      <p:sp>
        <p:nvSpPr>
          <p:cNvPr id="24" name="chip-5"/>
          <p:cNvSpPr/>
          <p:nvPr/>
        </p:nvSpPr>
        <p:spPr>
          <a:xfrm>
            <a:off x="7699248" y="1755648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699248" y="1755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223760" y="12344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+1–2 s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178040" y="22402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POST RnD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178040" y="25603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chemeClr val="tx1"/>
                </a:solidFill>
              </a:rPr>
              <a:t>201 Created</a:t>
            </a:r>
            <a:endParaRPr lang="en-US" sz="1050" dirty="0"/>
          </a:p>
        </p:txBody>
      </p:sp>
      <p:sp>
        <p:nvSpPr>
          <p:cNvPr id="29" name="cycle-note"/>
          <p:cNvSpPr/>
          <p:nvPr/>
        </p:nvSpPr>
        <p:spPr>
          <a:xfrm>
            <a:off x="457200" y="3291840"/>
            <a:ext cx="822960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0080" y="33375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Perhatikan: </a:t>
            </a:r>
            <a:r>
              <a:rPr lang="en-US" sz="1300" dirty="0">
                <a:solidFill>
                  <a:schemeClr val="tx1"/>
                </a:solidFill>
              </a:rPr>
              <a:t>data baru terkirim sekitar pukul 14:36:02, tetapi created_at tetap 14:36:00. Bila kelima percobaan POST gagal, satu siklus bisa memakan puluhan detik, masih aman di dalam slot 120 detik.</a:t>
            </a:r>
            <a:endParaRPr lang="en-US" sz="13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Membaca Serial Monitor</a:t>
            </a:r>
            <a:endParaRPr lang="en-US" sz="2800" dirty="0"/>
          </a:p>
        </p:txBody>
      </p:sp>
      <p:sp>
        <p:nvSpPr>
          <p:cNvPr id="3" name="code-log-bg"/>
          <p:cNvSpPr/>
          <p:nvPr/>
        </p:nvSpPr>
        <p:spPr>
          <a:xfrm>
            <a:off x="457200" y="1051560"/>
            <a:ext cx="4846320" cy="1463040"/>
          </a:xfrm>
          <a:prstGeom prst="roundRect">
            <a:avLst>
              <a:gd name="adj" fmla="val 5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code-log"/>
          <p:cNvSpPr txBox="1"/>
          <p:nvPr/>
        </p:nvSpPr>
        <p:spPr>
          <a:xfrm>
            <a:off x="502920" y="1097280"/>
            <a:ext cx="4754880" cy="13716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[WiFi] Menyambung ke NAMA_WIFI.... OK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[RTC] 2026-10-03 14:35:12 kode=200 RTT=842 ms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[RnD BiruLangit] percobaan 1 -&gt; kode -11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[RnD BiruLangit] percobaan 2 -&gt; kode 201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4320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Pada contoh ini, percobaan pertama habis waktu (−11) karena sinyal lemah, lalu berhasil di percobaan kedua. Inilah gunanya percobaan ulang.</a:t>
            </a:r>
            <a:endParaRPr lang="en-US" sz="13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051560"/>
          <a:ext cx="3108960" cy="274320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Kode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Cek ini dulu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−1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Internet, URL https, DNS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−11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Sinyal lemah, server lambat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Nama key dan format JSON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404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Path URL endpoint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5xx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Hubungi admin server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23774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Ringkasan</a:t>
            </a:r>
            <a:endParaRPr lang="en-US" sz="3400" dirty="0"/>
          </a:p>
        </p:txBody>
      </p:sp>
      <p:sp>
        <p:nvSpPr>
          <p:cNvPr id="3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109728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72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72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320040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Sensor dibaca lewat UART/I²C, waktu disetel dari server sendiri, lalu data mentah dikirim tiap 2 menit lewat HTTPS dengan stempel awal slot.</a:t>
            </a:r>
            <a:endParaRPr lang="en-US" sz="1600" dirty="0"/>
          </a:p>
        </p:txBody>
      </p:sp>
      <p:sp>
        <p:nvSpPr>
          <p:cNvPr id="5" name="next"/>
          <p:cNvSpPr/>
          <p:nvPr/>
        </p:nvSpPr>
        <p:spPr>
          <a:xfrm>
            <a:off x="5394960" y="3886200"/>
            <a:ext cx="3291840" cy="68580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532120" y="38862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Pertemuan berikutnya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Pengantar backend dan frontend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dara Edge">
  <a:themeElements>
    <a:clrScheme name="Udara Edge">
      <a:dk1>
        <a:srgbClr val="13282A"/>
      </a:dk1>
      <a:lt1>
        <a:srgbClr val="FFFFFF"/>
      </a:lt1>
      <a:dk2>
        <a:srgbClr val="0D5B57"/>
      </a:dk2>
      <a:lt2>
        <a:srgbClr val="EDF5F4"/>
      </a:lt2>
      <a:accent1>
        <a:srgbClr val="0E8C86"/>
      </a:accent1>
      <a:accent2>
        <a:srgbClr val="F2A541"/>
      </a:accent2>
      <a:accent3>
        <a:srgbClr val="D1495B"/>
      </a:accent3>
      <a:accent4>
        <a:srgbClr val="3A6EA5"/>
      </a:accent4>
      <a:accent5>
        <a:srgbClr val="6FAE5A"/>
      </a:accent5>
      <a:accent6>
        <a:srgbClr val="7A8C8B"/>
      </a:accent6>
      <a:hlink>
        <a:srgbClr val="0E8C86"/>
      </a:hlink>
      <a:folHlink>
        <a:srgbClr val="0D5B57"/>
      </a:folHlink>
    </a:clrScheme>
    <a:fontScheme name="Udara Edg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4425</Words>
  <Application>Microsoft Office PowerPoint</Application>
  <PresentationFormat>On-screen Show (16:9)</PresentationFormat>
  <Paragraphs>749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3" baseType="lpstr">
      <vt:lpstr>Arial</vt:lpstr>
      <vt:lpstr>Calibri</vt:lpstr>
      <vt:lpstr>Courier New</vt:lpstr>
      <vt:lpstr>Udara Edge</vt:lpstr>
      <vt:lpstr>Akuisisi dan Transmisi Data</vt:lpstr>
      <vt:lpstr>Capaian Pembelajaran</vt:lpstr>
      <vt:lpstr>Posisi Materi Hari Ini</vt:lpstr>
      <vt:lpstr>Dasar Akuisisi Data Sensor</vt:lpstr>
      <vt:lpstr>Rantai Akuisisi Data</vt:lpstr>
      <vt:lpstr>Antarmuka Sensor yang Umum</vt:lpstr>
      <vt:lpstr>Protokol Tiga Sensor Praktikum</vt:lpstr>
      <vt:lpstr>Contoh Pengkabelan ke ESP32</vt:lpstr>
      <vt:lpstr>Pertimbangan Saat Mengambil Data</vt:lpstr>
      <vt:lpstr>Variabel Data: Titik Temu dengan Kode Sensor</vt:lpstr>
      <vt:lpstr>Transmisi ke Platform IoT</vt:lpstr>
      <vt:lpstr>Arsitektur Umum Sistem IoT</vt:lpstr>
      <vt:lpstr>Pilihan Konektivitas</vt:lpstr>
      <vt:lpstr>Protokol Aplikasi: HTTP vs MQTT</vt:lpstr>
      <vt:lpstr>Anatomi HTTPS POST</vt:lpstr>
      <vt:lpstr>Format Payload ke Server</vt:lpstr>
      <vt:lpstr>WiFi pada ESP32</vt:lpstr>
      <vt:lpstr>Dasar WiFi ESP32</vt:lpstr>
      <vt:lpstr>Kode: Menyambung WiFi</vt:lpstr>
      <vt:lpstr>HTTPS dengan WiFiClientSecure</vt:lpstr>
      <vt:lpstr>Sinkron Waktu via Server Sendiri</vt:lpstr>
      <vt:lpstr>Mengapa Tidak Langsung NTP?</vt:lpstr>
      <vt:lpstr>Library ESP32Time</vt:lpstr>
      <vt:lpstr>Kode: Parsing Respons Waktu</vt:lpstr>
      <vt:lpstr>Kode: Sync_RTC()</vt:lpstr>
      <vt:lpstr>Kapan Sinkron dan Seberapa Akurat?</vt:lpstr>
      <vt:lpstr>Fungsi Bantu Format Waktu</vt:lpstr>
      <vt:lpstr>Membangun Sistem IoT Utuh</vt:lpstr>
      <vt:lpstr>Struktur Proyek dan Urutan Include</vt:lpstr>
      <vt:lpstr>Kode: Bagian Atas IoT_AQMS.ino</vt:lpstr>
      <vt:lpstr>Kode: Mengisi Paket dan setup()</vt:lpstr>
      <vt:lpstr>Kode: Menjaga Waktu Tetap Benar</vt:lpstr>
      <vt:lpstr>Kode: loop() Pengiriman per 2 Menit</vt:lpstr>
      <vt:lpstr>Kode: Penyusun JSON</vt:lpstr>
      <vt:lpstr>Kode: POST dengan Percobaan Ulang</vt:lpstr>
      <vt:lpstr>Kode: Fungsi Kirim ke Server</vt:lpstr>
      <vt:lpstr>Satu Siklus Pengiriman</vt:lpstr>
      <vt:lpstr>Membaca Serial Monitor</vt:lpstr>
      <vt:lpstr>Ringkasan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Akuisisi dan Transmisi Data Sensor</dc:title>
  <dc:subject>PptxGenJS Presentation</dc:subject>
  <dc:creator>Raihan Azwar Ibrahim Pulungan</dc:creator>
  <cp:lastModifiedBy>Eka Sugiarto</cp:lastModifiedBy>
  <cp:revision>4</cp:revision>
  <dcterms:created xsi:type="dcterms:W3CDTF">2026-10-03T04:49:58Z</dcterms:created>
  <dcterms:modified xsi:type="dcterms:W3CDTF">2026-10-03T05:27:37Z</dcterms:modified>
</cp:coreProperties>
</file>